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Months</c:v>
                </c:pt>
              </c:strCache>
            </c:strRef>
          </c:tx>
          <c:spPr>
            <a:solidFill>
              <a:srgbClr val="5b6b7b"/>
            </a:solidFill>
            <a:ln w="0">
              <a:noFill/>
            </a:ln>
          </c:spPr>
          <c:invertIfNegative val="0"/>
          <c:dPt>
            <c:idx val="0"/>
            <c:invertIfNegative val="0"/>
            <c:spPr>
              <a:solidFill>
                <a:srgbClr val="5b6b7b"/>
              </a:solidFill>
              <a:ln w="0">
                <a:noFill/>
              </a:ln>
            </c:spPr>
          </c:dPt>
          <c:dPt>
            <c:idx val="1"/>
            <c:invertIfNegative val="0"/>
            <c:spPr>
              <a:solidFill>
                <a:srgbClr val="0f8b8d"/>
              </a:solidFill>
              <a:ln w="0">
                <a:noFill/>
              </a:ln>
            </c:spPr>
          </c:dPt>
          <c:dLbls>
            <c:numFmt formatCode="0.0" sourceLinked="0"/>
            <c:dLbl>
              <c:idx val="0"/>
              <c:numFmt formatCode="0.0" sourceLinked="0"/>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dLbl>
            <c:dLbl>
              <c:idx val="1"/>
              <c:numFmt formatCode="0.0" sourceLinked="0"/>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dLbl>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Osimertinib alone</c:v>
                </c:pt>
                <c:pt idx="1">
                  <c:v>Osimertinib + chemo</c:v>
                </c:pt>
              </c:strCache>
            </c:strRef>
          </c:cat>
          <c:val>
            <c:numRef>
              <c:f>0</c:f>
              <c:numCache>
                <c:formatCode>General</c:formatCode>
                <c:ptCount val="2"/>
                <c:pt idx="0">
                  <c:v>16.7</c:v>
                </c:pt>
                <c:pt idx="1">
                  <c:v>25.5</c:v>
                </c:pt>
              </c:numCache>
            </c:numRef>
          </c:val>
        </c:ser>
        <c:gapWidth val="150"/>
        <c:overlap val="0"/>
        <c:axId val="30680794"/>
        <c:axId val="64819585"/>
      </c:barChart>
      <c:catAx>
        <c:axId val="30680794"/>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1f2d3d"/>
                </a:solidFill>
                <a:latin typeface="Arial"/>
              </a:defRPr>
            </a:pPr>
          </a:p>
        </c:txPr>
        <c:crossAx val="64819585"/>
        <c:crosses val="autoZero"/>
        <c:auto val="1"/>
        <c:lblAlgn val="ctr"/>
        <c:lblOffset val="100"/>
        <c:noMultiLvlLbl val="0"/>
      </c:catAx>
      <c:valAx>
        <c:axId val="64819585"/>
        <c:scaling>
          <c:orientation val="minMax"/>
          <c:max val="30"/>
          <c:min val="0"/>
        </c:scaling>
        <c:delete val="1"/>
        <c:axPos val="l"/>
        <c:numFmt formatCode="General" sourceLinked="1"/>
        <c:majorTickMark val="out"/>
        <c:minorTickMark val="none"/>
        <c:tickLblPos val="nextTo"/>
        <c:spPr>
          <a:ln w="12600">
            <a:solidFill>
              <a:srgbClr val="888888"/>
            </a:solidFill>
            <a:round/>
          </a:ln>
        </c:spPr>
        <c:txPr>
          <a:bodyPr/>
          <a:lstStyle/>
          <a:p>
            <a:pPr>
              <a:defRPr b="0" sz="1200" spc="-1" strike="noStrike">
                <a:solidFill>
                  <a:srgbClr val="000000"/>
                </a:solidFill>
                <a:latin typeface="Arial"/>
              </a:defRPr>
            </a:pPr>
          </a:p>
        </c:txPr>
        <c:crossAx val="30680794"/>
        <c:crossBetween val="between"/>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c:v>
                </c:pt>
              </c:strCache>
            </c:strRef>
          </c:tx>
          <c:spPr>
            <a:solidFill>
              <a:srgbClr val="5b6b7b"/>
            </a:solidFill>
            <a:ln w="0">
              <a:noFill/>
            </a:ln>
          </c:spPr>
          <c:invertIfNegative val="0"/>
          <c:dPt>
            <c:idx val="0"/>
            <c:invertIfNegative val="0"/>
            <c:spPr>
              <a:solidFill>
                <a:srgbClr val="5b6b7b"/>
              </a:solidFill>
              <a:ln w="0">
                <a:noFill/>
              </a:ln>
            </c:spPr>
          </c:dPt>
          <c:dPt>
            <c:idx val="1"/>
            <c:invertIfNegative val="0"/>
            <c:spPr>
              <a:solidFill>
                <a:srgbClr val="ee6055"/>
              </a:solidFill>
              <a:ln w="0">
                <a:noFill/>
              </a:ln>
            </c:spPr>
          </c:dPt>
          <c:dLbls>
            <c:numFmt formatCode="0.0" sourceLinked="0"/>
            <c:dLbl>
              <c:idx val="0"/>
              <c:numFmt formatCode="0.0" sourceLinked="0"/>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dLbl>
            <c:dLbl>
              <c:idx val="1"/>
              <c:numFmt formatCode="0.0" sourceLinked="0"/>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dLbl>
            <c:txPr>
              <a:bodyPr wrap="square"/>
              <a:lstStyle/>
              <a:p>
                <a:pPr>
                  <a:defRPr b="1" sz="1400" spc="-1" strike="noStrike">
                    <a:solidFill>
                      <a:srgbClr val="1f2d3d"/>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Osimertinib alone</c:v>
                </c:pt>
                <c:pt idx="1">
                  <c:v>Osimertinib + chemo</c:v>
                </c:pt>
              </c:strCache>
            </c:strRef>
          </c:cat>
          <c:val>
            <c:numRef>
              <c:f>0</c:f>
              <c:numCache>
                <c:formatCode>General</c:formatCode>
                <c:ptCount val="2"/>
                <c:pt idx="0">
                  <c:v>34</c:v>
                </c:pt>
                <c:pt idx="1">
                  <c:v>70</c:v>
                </c:pt>
              </c:numCache>
            </c:numRef>
          </c:val>
        </c:ser>
        <c:gapWidth val="150"/>
        <c:overlap val="0"/>
        <c:axId val="36948100"/>
        <c:axId val="67102394"/>
      </c:barChart>
      <c:catAx>
        <c:axId val="36948100"/>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1f2d3d"/>
                </a:solidFill>
                <a:latin typeface="Arial"/>
              </a:defRPr>
            </a:pPr>
          </a:p>
        </c:txPr>
        <c:crossAx val="67102394"/>
        <c:crosses val="autoZero"/>
        <c:auto val="1"/>
        <c:lblAlgn val="ctr"/>
        <c:lblOffset val="100"/>
        <c:noMultiLvlLbl val="0"/>
      </c:catAx>
      <c:valAx>
        <c:axId val="67102394"/>
        <c:scaling>
          <c:orientation val="minMax"/>
          <c:max val="85"/>
          <c:min val="0"/>
        </c:scaling>
        <c:delete val="1"/>
        <c:axPos val="l"/>
        <c:numFmt formatCode="General" sourceLinked="1"/>
        <c:majorTickMark val="out"/>
        <c:minorTickMark val="none"/>
        <c:tickLblPos val="nextTo"/>
        <c:spPr>
          <a:ln w="12600">
            <a:solidFill>
              <a:srgbClr val="888888"/>
            </a:solidFill>
            <a:round/>
          </a:ln>
        </c:spPr>
        <c:txPr>
          <a:bodyPr/>
          <a:lstStyle/>
          <a:p>
            <a:pPr>
              <a:defRPr b="0" sz="1200" spc="-1" strike="noStrike">
                <a:solidFill>
                  <a:srgbClr val="000000"/>
                </a:solidFill>
                <a:latin typeface="Arial"/>
              </a:defRPr>
            </a:pPr>
          </a:p>
        </c:txPr>
        <c:crossAx val="36948100"/>
        <c:crossBetween val="between"/>
      </c:valAx>
      <c:spPr>
        <a:noFill/>
        <a:ln w="0">
          <a:noFill/>
        </a:ln>
      </c:spPr>
    </c:plotArea>
    <c:plotVisOnly val="1"/>
    <c:dispBlanksAs val="span"/>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a:t>
            </a:r>
            <a:r>
              <a:rPr b="0" lang="en-US" sz="1800" spc="-1" strike="noStrike">
                <a:solidFill>
                  <a:schemeClr val="dk1"/>
                </a:solidFill>
                <a:latin typeface="Calibri"/>
              </a:rPr>
              <a:t>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a:t>
            </a:r>
            <a:r>
              <a:rPr b="0" lang="en-US" sz="2000" spc="-1" strike="noStrike">
                <a:solidFill>
                  <a:srgbClr val="000000"/>
                </a:solidFill>
                <a:latin typeface="Arial"/>
              </a:rPr>
              <a:t>c</a:t>
            </a:r>
            <a:r>
              <a:rPr b="0" lang="en-US" sz="2000" spc="-1" strike="noStrike">
                <a:solidFill>
                  <a:srgbClr val="000000"/>
                </a:solidFill>
                <a:latin typeface="Arial"/>
              </a:rPr>
              <a:t>k </a:t>
            </a:r>
            <a:r>
              <a:rPr b="0" lang="en-US" sz="2000" spc="-1" strike="noStrike">
                <a:solidFill>
                  <a:srgbClr val="000000"/>
                </a:solidFill>
                <a:latin typeface="Arial"/>
              </a:rPr>
              <a:t>t</a:t>
            </a:r>
            <a:r>
              <a:rPr b="0" lang="en-US" sz="2000" spc="-1" strike="noStrike">
                <a:solidFill>
                  <a:srgbClr val="000000"/>
                </a:solidFill>
                <a:latin typeface="Arial"/>
              </a:rPr>
              <a:t>o </a:t>
            </a:r>
            <a:r>
              <a:rPr b="0" lang="en-US" sz="2000" spc="-1" strike="noStrike">
                <a:solidFill>
                  <a:srgbClr val="000000"/>
                </a:solidFill>
                <a:latin typeface="Arial"/>
              </a:rPr>
              <a:t>e</a:t>
            </a:r>
            <a:r>
              <a:rPr b="0" lang="en-US" sz="2000" spc="-1" strike="noStrike">
                <a:solidFill>
                  <a:srgbClr val="000000"/>
                </a:solidFill>
                <a:latin typeface="Arial"/>
              </a:rPr>
              <a:t>d</a:t>
            </a:r>
            <a:r>
              <a:rPr b="0" lang="en-US" sz="2000" spc="-1" strike="noStrike">
                <a:solidFill>
                  <a:srgbClr val="000000"/>
                </a:solidFill>
                <a:latin typeface="Arial"/>
              </a:rPr>
              <a:t>it </a:t>
            </a:r>
            <a:r>
              <a:rPr b="0" lang="en-US" sz="2000" spc="-1" strike="noStrike">
                <a:solidFill>
                  <a:srgbClr val="000000"/>
                </a:solidFill>
                <a:latin typeface="Arial"/>
              </a:rPr>
              <a:t>t</a:t>
            </a:r>
            <a:r>
              <a:rPr b="0" lang="en-US" sz="2000" spc="-1" strike="noStrike">
                <a:solidFill>
                  <a:srgbClr val="000000"/>
                </a:solidFill>
                <a:latin typeface="Arial"/>
              </a:rPr>
              <a:t>h</a:t>
            </a:r>
            <a:r>
              <a:rPr b="0" lang="en-US" sz="2000" spc="-1" strike="noStrike">
                <a:solidFill>
                  <a:srgbClr val="000000"/>
                </a:solidFill>
                <a:latin typeface="Arial"/>
              </a:rPr>
              <a:t>e </a:t>
            </a:r>
            <a:r>
              <a:rPr b="0" lang="en-US" sz="2000" spc="-1" strike="noStrike">
                <a:solidFill>
                  <a:srgbClr val="000000"/>
                </a:solidFill>
                <a:latin typeface="Arial"/>
              </a:rPr>
              <a:t>n</a:t>
            </a:r>
            <a:r>
              <a:rPr b="0" lang="en-US" sz="2000" spc="-1" strike="noStrike">
                <a:solidFill>
                  <a:srgbClr val="000000"/>
                </a:solidFill>
                <a:latin typeface="Arial"/>
              </a:rPr>
              <a:t>o</a:t>
            </a:r>
            <a:r>
              <a:rPr b="0" lang="en-US" sz="2000" spc="-1" strike="noStrike">
                <a:solidFill>
                  <a:srgbClr val="000000"/>
                </a:solidFill>
                <a:latin typeface="Arial"/>
              </a:rPr>
              <a:t>t</a:t>
            </a:r>
            <a:r>
              <a:rPr b="0" lang="en-US" sz="2000" spc="-1" strike="noStrike">
                <a:solidFill>
                  <a:srgbClr val="000000"/>
                </a:solidFill>
                <a:latin typeface="Arial"/>
              </a:rPr>
              <a:t>e</a:t>
            </a:r>
            <a:r>
              <a:rPr b="0" lang="en-US" sz="2000" spc="-1" strike="noStrike">
                <a:solidFill>
                  <a:srgbClr val="000000"/>
                </a:solidFill>
                <a:latin typeface="Arial"/>
              </a:rPr>
              <a:t>s </a:t>
            </a:r>
            <a:r>
              <a:rPr b="0" lang="en-US" sz="2000" spc="-1" strike="noStrike">
                <a:solidFill>
                  <a:srgbClr val="000000"/>
                </a:solidFill>
                <a:latin typeface="Arial"/>
              </a:rPr>
              <a:t>f</a:t>
            </a:r>
            <a:r>
              <a:rPr b="0" lang="en-US" sz="2000" spc="-1" strike="noStrike">
                <a:solidFill>
                  <a:srgbClr val="000000"/>
                </a:solidFill>
                <a:latin typeface="Arial"/>
              </a:rPr>
              <a:t>o</a:t>
            </a:r>
            <a:r>
              <a:rPr b="0" lang="en-US" sz="2000" spc="-1" strike="noStrike">
                <a:solidFill>
                  <a:srgbClr val="000000"/>
                </a:solidFill>
                <a:latin typeface="Arial"/>
              </a:rPr>
              <a:t>r</a:t>
            </a:r>
            <a:r>
              <a:rPr b="0" lang="en-US" sz="2000" spc="-1" strike="noStrike">
                <a:solidFill>
                  <a:srgbClr val="000000"/>
                </a:solidFill>
                <a:latin typeface="Arial"/>
              </a:rPr>
              <a:t>m</a:t>
            </a:r>
            <a:r>
              <a:rPr b="0" lang="en-US" sz="2000" spc="-1" strike="noStrike">
                <a:solidFill>
                  <a:srgbClr val="000000"/>
                </a:solidFill>
                <a:latin typeface="Arial"/>
              </a:rPr>
              <a:t>a</a:t>
            </a:r>
            <a:r>
              <a:rPr b="0" lang="en-US" sz="2000" spc="-1" strike="noStrike">
                <a:solidFill>
                  <a:srgbClr val="000000"/>
                </a:solidFill>
                <a:latin typeface="Arial"/>
              </a:rPr>
              <a:t>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CA22BBB-563D-4F29-B17F-60248F39C84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6040" cy="3085920"/>
          </a:xfrm>
          <a:prstGeom prst="rect">
            <a:avLst/>
          </a:prstGeom>
          <a:ln w="0">
            <a:noFill/>
          </a:ln>
        </p:spPr>
      </p:sp>
      <p:sp>
        <p:nvSpPr>
          <p:cNvPr id="3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Welcome. In one line: this proposal asks whether patients with a specific type of lung cancer, whose blood tests show no sign of cancer DNA, can safely stop one of their chemotherapy drugs (pemetrexed) and keep taking just the targeted pill (osimertinib). Over the next slides I will explain the problem, the idea, the trial design, and why it matters.</a:t>
            </a:r>
            <a:endParaRPr b="0" lang="en-US" sz="2000" spc="-1" strike="noStrike">
              <a:solidFill>
                <a:srgbClr val="000000"/>
              </a:solidFill>
              <a:latin typeface="Arial"/>
            </a:endParaRPr>
          </a:p>
        </p:txBody>
      </p:sp>
      <p:sp>
        <p:nvSpPr>
          <p:cNvPr id="30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271D211-7264-4A11-B537-1DA21A4506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6040" cy="3085920"/>
          </a:xfrm>
          <a:prstGeom prst="rect">
            <a:avLst/>
          </a:prstGeom>
          <a:ln w="0">
            <a:noFill/>
          </a:ln>
        </p:spPr>
      </p:sp>
      <p:sp>
        <p:nvSpPr>
          <p:cNvPr id="3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Four ideas to remember. 1) Patients: advanced lung cancer with an EGFR mutation. 2) Clue: a blood test called ctDNA tells us how well treatment is working. 3) Question: if the blood test is clear, do these patients still need pemetrexed? 4) Test: a randomised trial comparing keeping vs stopping pemetrexed. The goal is less toxicity without losing disease control.</a:t>
            </a:r>
            <a:endParaRPr b="0" lang="en-US" sz="2000" spc="-1" strike="noStrike">
              <a:solidFill>
                <a:srgbClr val="000000"/>
              </a:solidFill>
              <a:latin typeface="Arial"/>
            </a:endParaRPr>
          </a:p>
        </p:txBody>
      </p:sp>
      <p:sp>
        <p:nvSpPr>
          <p:cNvPr id="30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67CAC01-3CE4-4133-9B06-2D193A6331B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6040" cy="3085920"/>
          </a:xfrm>
          <a:prstGeom prst="rect">
            <a:avLst/>
          </a:prstGeom>
          <a:ln w="0">
            <a:noFill/>
          </a:ln>
        </p:spPr>
      </p:sp>
      <p:sp>
        <p:nvSpPr>
          <p:cNvPr id="3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The FLAURA2 trial showed that adding platinum–pemetrexed to osimertinib improved median progression-free survival: 25.5 versus 16.7 months. Updated overall survival was 47.5 versus 37.6 months. However, grade 3 or higher adverse events occurred in 70% versus 34%. These results support the combination regimen, but they do not tell us how much benefit comes specifically from continuing pemetrexed maintenance. That is the question this proposal tests.</a:t>
            </a:r>
          </a:p>
        </p:txBody>
      </p:sp>
      <p:sp>
        <p:nvSpPr>
          <p:cNvPr id="31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16219B-8752-4C86-92DC-DFC6BCDE55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6040" cy="3085920"/>
          </a:xfrm>
          <a:prstGeom prst="rect">
            <a:avLst/>
          </a:prstGeom>
          <a:ln w="0">
            <a:noFill/>
          </a:ln>
        </p:spPr>
      </p:sp>
      <p:sp>
        <p:nvSpPr>
          <p:cNvPr id="3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ctDNA means circulating tumour DNA. Tumours can release small DNA fragments into the bloodstream. A blood sample can be tested for the EGFR mutation. If the mutation becomes undetectable, that is a sign of molecular response, but it does not prove the cancer has disappeared or that treatment can safely be reduced. This trial tests that decision.</a:t>
            </a:r>
          </a:p>
        </p:txBody>
      </p:sp>
      <p:sp>
        <p:nvSpPr>
          <p:cNvPr id="31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8929858-E70B-4DD0-9541-2EE5980023A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6040" cy="3085920"/>
          </a:xfrm>
          <a:prstGeom prst="rect">
            <a:avLst/>
          </a:prstGeom>
          <a:ln w="0">
            <a:noFill/>
          </a:ln>
        </p:spPr>
      </p:sp>
      <p:sp>
        <p:nvSpPr>
          <p:cNvPr id="3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Previous work mostly asks: when should we ADD treatment? FLAME shows patients with persistent ctDNA benefit from chemo. This proposal asks the opposite: can some patients get LESS? In colon cancer, ctDNA-guided de-escalation had mixed results, so it is promising but not guaranteed. Dong et al. did a non-randomised lung cancer study. NCT07058519 is ongoing but has no randomisation. So the gap is clear: no randomised trial on stopping pemetrexed.</a:t>
            </a:r>
            <a:endParaRPr b="0" lang="en-US" sz="2000" spc="-1" strike="noStrike">
              <a:solidFill>
                <a:srgbClr val="000000"/>
              </a:solidFill>
              <a:latin typeface="Arial"/>
            </a:endParaRPr>
          </a:p>
        </p:txBody>
      </p:sp>
      <p:sp>
        <p:nvSpPr>
          <p:cNvPr id="31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D8EFF0B-F600-4E0A-9576-EB676878D1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6040" cy="3085920"/>
          </a:xfrm>
          <a:prstGeom prst="rect">
            <a:avLst/>
          </a:prstGeom>
          <a:ln w="0">
            <a:noFill/>
          </a:ln>
        </p:spPr>
      </p:sp>
      <p:sp>
        <p:nvSpPr>
          <p:cNvPr id="3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Non-inferiority means the stopping strategy must not be worse than continuing by more than a pre-specified amount. The proposed hazard-ratio margin is 1.40, and the upper limit of the one-sided 90% confidence interval must be below it. This is a design threshold, not proof that the treatments are identical; the margin needs clinical justification and results would need careful interpretation.</a:t>
            </a:r>
          </a:p>
        </p:txBody>
      </p:sp>
      <p:sp>
        <p:nvSpPr>
          <p:cNvPr id="32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83A1F9D-6EC9-4D63-BED0-F0B871F46B0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6040" cy="3085920"/>
          </a:xfrm>
          <a:prstGeom prst="rect">
            <a:avLst/>
          </a:prstGeom>
          <a:ln w="0">
            <a:noFill/>
          </a:ln>
        </p:spPr>
      </p:sp>
      <p:sp>
        <p:nvSpPr>
          <p:cNvPr id="3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Aim 1 is the main one: efficacy, measured as progression-free survival. Aim 2 looks at the benefits of stopping: fewer grade 3+ adverse events and better quality of life. Aim 3 is exploratory and uses AI to look for differences between patients; it will generate hypotheses but will not change treatment in this trial.</a:t>
            </a:r>
            <a:endParaRPr b="0" lang="en-US" sz="2000" spc="-1" strike="noStrike">
              <a:solidFill>
                <a:srgbClr val="000000"/>
              </a:solidFill>
              <a:latin typeface="Arial"/>
            </a:endParaRPr>
          </a:p>
        </p:txBody>
      </p:sp>
      <p:sp>
        <p:nvSpPr>
          <p:cNvPr id="32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8A9313C-2880-4EE5-BBBE-380E26AD80A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5800" y="1143000"/>
            <a:ext cx="5486040" cy="3085920"/>
          </a:xfrm>
          <a:prstGeom prst="rect">
            <a:avLst/>
          </a:prstGeom>
          <a:ln w="0">
            <a:noFill/>
          </a:ln>
        </p:spPr>
      </p:sp>
      <p:sp>
        <p:nvSpPr>
          <p:cNvPr id="3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Walk left to right. ~470 patients enter; all get the same 4 induction cycles. At week 12 only patients with a deep, sustained molecular response and no CT progression are randomised; around 60% are expected to qualify, giving ~280. They are randomly assigned 1:1 to continue pemetrexed or stop. Randomisation is stratified by EGFR mutation type (exon 19 deletion vs L858R) and brain metastases so the groups are balanced.</a:t>
            </a:r>
            <a:endParaRPr b="0" lang="en-US" sz="2000" spc="-1" strike="noStrike">
              <a:solidFill>
                <a:srgbClr val="000000"/>
              </a:solidFill>
              <a:latin typeface="Arial"/>
            </a:endParaRPr>
          </a:p>
        </p:txBody>
      </p:sp>
      <p:sp>
        <p:nvSpPr>
          <p:cNvPr id="32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3AFFC1A-1DFF-4C6E-A12B-FB7497B38AE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86040" cy="3085920"/>
          </a:xfrm>
          <a:prstGeom prst="rect">
            <a:avLst/>
          </a:prstGeom>
          <a:ln w="0">
            <a:noFill/>
          </a:ln>
        </p:spPr>
      </p:sp>
      <p:sp>
        <p:nvSpPr>
          <p:cNvPr id="3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Baseline ctDNA must be detectable. Week 3 is a research-only sample and is not shown to clinicians. ctDNA must be undetectable at both week 6 and week 12, and the CT scan must show no progression, before randomisation. After randomisation, ctDNA is monitored but does not itself trigger a treatment change in this protocol. Normal clinical and safety management still applies.</a:t>
            </a:r>
          </a:p>
        </p:txBody>
      </p:sp>
      <p:sp>
        <p:nvSpPr>
          <p:cNvPr id="33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6CD0A89-0FB0-445A-8CA3-52E83068F59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6040" cy="3085920"/>
          </a:xfrm>
          <a:prstGeom prst="rect">
            <a:avLst/>
          </a:prstGeom>
          <a:ln w="0">
            <a:noFill/>
          </a:ln>
        </p:spPr>
      </p:sp>
      <p:sp>
        <p:nvSpPr>
          <p:cNvPr id="3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The primary outcome is progression-free survival, measured from randomisation until radiological progression or death. An independent central review of scans helps reduce assessment bias even though the trial is open-label. Secondary outcomes are overall survival, serious adverse events, quality of life, and ctDNA reappearance or resistance findings.</a:t>
            </a:r>
          </a:p>
        </p:txBody>
      </p:sp>
      <p:sp>
        <p:nvSpPr>
          <p:cNvPr id="33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CA7C646-6B89-4011-B0AE-243B6EAAB9F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6040" cy="3085920"/>
          </a:xfrm>
          <a:prstGeom prst="rect">
            <a:avLst/>
          </a:prstGeom>
          <a:ln w="0">
            <a:noFill/>
          </a:ln>
        </p:spPr>
      </p:sp>
      <p:sp>
        <p:nvSpPr>
          <p:cNvPr id="3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The AI component is exploratory. It uses only information collected before randomisation, including baseline and week-3 ctDNA patterns and clinical features, to explore whether the effect of continuing versus stopping pemetrexed differs across patients. The causal survival forest estimates differences in 24-month restricted mean survival time. SHAP can help explain feature contributions, but the model would need external validation and would not guide treatment in this trial.</a:t>
            </a:r>
          </a:p>
        </p:txBody>
      </p:sp>
      <p:sp>
        <p:nvSpPr>
          <p:cNvPr id="336"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E4D99F9-5F14-430A-B020-150F7ECA15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6040" cy="3085920"/>
          </a:xfrm>
          <a:prstGeom prst="rect">
            <a:avLst/>
          </a:prstGeom>
          <a:ln w="0">
            <a:noFill/>
          </a:ln>
        </p:spPr>
      </p:sp>
      <p:sp>
        <p:nvSpPr>
          <p:cNvPr id="3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You do not need to memorise formulas. The logic: to detect whether stopping is no worse than continuing with 80% power, we need about 160 progression events. Allowing for 10% dropout and the fact that not everyone has events, ~280 must be randomised. Only about 60% of enrolled patients are expected to have sustained ctDNA clearance, so ~470 must be enrolled. ITT is standard; per-protocol is required to agree for non-inferiority. A futility check happens after 80 events.</a:t>
            </a:r>
            <a:endParaRPr b="0" lang="en-US" sz="2000" spc="-1" strike="noStrike">
              <a:solidFill>
                <a:srgbClr val="000000"/>
              </a:solidFill>
              <a:latin typeface="Arial"/>
            </a:endParaRPr>
          </a:p>
        </p:txBody>
      </p:sp>
      <p:sp>
        <p:nvSpPr>
          <p:cNvPr id="339"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FB4F151-24BB-4403-B9D5-F9CAF2AA0CF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6040" cy="3085920"/>
          </a:xfrm>
          <a:prstGeom prst="rect">
            <a:avLst/>
          </a:prstGeom>
          <a:ln w="0">
            <a:noFill/>
          </a:ln>
        </p:spPr>
      </p:sp>
      <p:sp>
        <p:nvSpPr>
          <p:cNvPr id="3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This is a human clinical study, not an animal study. Blood is collected by trained staff at planned visits, and the proposal does not require additional study-mandated biopsies. Samples are labelled with a study code, and participants may withdraw consent. Patients remain under specialist oncology care, with safety oversight and appropriate treatment if their disease progresses.</a:t>
            </a:r>
          </a:p>
        </p:txBody>
      </p:sp>
      <p:sp>
        <p:nvSpPr>
          <p:cNvPr id="342"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F81061D-4630-4DAA-9CC9-113BEB9F608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6040" cy="3085920"/>
          </a:xfrm>
          <a:prstGeom prst="rect">
            <a:avLst/>
          </a:prstGeom>
          <a:ln w="0">
            <a:noFill/>
          </a:ln>
        </p:spPr>
      </p:sp>
      <p:sp>
        <p:nvSpPr>
          <p:cNvPr id="3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If non-inferiority is established, the approach could reduce chemotherapy exposure for selected patients while maintaining acceptable disease control. However, ctDNA clearance is not proof of cure, and any result would apply only to the population studied. It would need to be interpreted alongside safety, quality-of-life, and clinical outcome data before changing practice.</a:t>
            </a:r>
          </a:p>
        </p:txBody>
      </p:sp>
      <p:sp>
        <p:nvSpPr>
          <p:cNvPr id="345"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7ABAB78-A6BE-4A33-80CC-2B98F6C69D2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6040" cy="3085920"/>
          </a:xfrm>
          <a:prstGeom prst="rect">
            <a:avLst/>
          </a:prstGeom>
          <a:ln w="0">
            <a:noFill/>
          </a:ln>
        </p:spPr>
      </p:sp>
      <p:sp>
        <p:nvSpPr>
          <p:cNvPr id="3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Wrap up with these five points. Then invite questions.</a:t>
            </a:r>
            <a:endParaRPr b="0" lang="en-US" sz="2000" spc="-1" strike="noStrike">
              <a:solidFill>
                <a:srgbClr val="000000"/>
              </a:solidFill>
              <a:latin typeface="Arial"/>
            </a:endParaRPr>
          </a:p>
        </p:txBody>
      </p:sp>
      <p:sp>
        <p:nvSpPr>
          <p:cNvPr id="348"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24B144B-2BF7-4F2E-A7FD-CA604B0A520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a:t>
            </a:r>
            <a:r>
              <a:rPr b="0" lang="en-US" sz="1800" spc="-1" strike="noStrike">
                <a:solidFill>
                  <a:schemeClr val="dk1"/>
                </a:solidFill>
                <a:latin typeface="Calibri"/>
              </a:rPr>
              <a:t>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545"/>
        </a:solidFill>
      </p:bgPr>
    </p:bg>
    <p:spTree>
      <p:nvGrpSpPr>
        <p:cNvPr id="1" name=""/>
        <p:cNvGrpSpPr/>
        <p:nvPr/>
      </p:nvGrpSpPr>
      <p:grpSpPr>
        <a:xfrm>
          <a:off x="0" y="0"/>
          <a:ext cx="0" cy="0"/>
          <a:chOff x="0" y="0"/>
          <a:chExt cx="0" cy="0"/>
        </a:xfrm>
      </p:grpSpPr>
      <p:sp>
        <p:nvSpPr>
          <p:cNvPr id="8" name="Shape 0"/>
          <p:cNvSpPr/>
          <p:nvPr/>
        </p:nvSpPr>
        <p:spPr>
          <a:xfrm>
            <a:off x="6035040" y="-822960"/>
            <a:ext cx="4571640" cy="4571640"/>
          </a:xfrm>
          <a:prstGeom prst="ellipse">
            <a:avLst/>
          </a:prstGeom>
          <a:solidFill>
            <a:srgbClr val="0f8b8d">
              <a:alpha val="30000"/>
            </a:srgbClr>
          </a:solidFill>
          <a:ln w="12700">
            <a:solidFill>
              <a:srgbClr val="0f8b8d">
                <a:alpha val="30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7132320" y="2377440"/>
            <a:ext cx="3291480" cy="3291480"/>
          </a:xfrm>
          <a:prstGeom prst="ellipse">
            <a:avLst/>
          </a:prstGeom>
          <a:solidFill>
            <a:srgbClr val="ee6055">
              <a:alpha val="25000"/>
            </a:srgbClr>
          </a:solidFill>
          <a:ln w="12700">
            <a:solidFill>
              <a:srgbClr val="ee6055">
                <a:alpha val="2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6675120" y="1371600"/>
            <a:ext cx="1645560" cy="164556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1" name="Image 0" descr="preencoded.png"/>
          <p:cNvPicPr/>
          <p:nvPr/>
        </p:nvPicPr>
        <p:blipFill>
          <a:blip r:embed="rId1"/>
          <a:stretch/>
        </p:blipFill>
        <p:spPr>
          <a:xfrm>
            <a:off x="7086600" y="1783080"/>
            <a:ext cx="822600" cy="822600"/>
          </a:xfrm>
          <a:prstGeom prst="rect">
            <a:avLst/>
          </a:prstGeom>
          <a:ln w="0">
            <a:noFill/>
          </a:ln>
        </p:spPr>
      </p:pic>
      <p:sp>
        <p:nvSpPr>
          <p:cNvPr id="12" name="Text 3"/>
          <p:cNvSpPr/>
          <p:nvPr/>
        </p:nvSpPr>
        <p:spPr>
          <a:xfrm>
            <a:off x="548640" y="640080"/>
            <a:ext cx="54860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299" strike="noStrike">
                <a:solidFill>
                  <a:srgbClr val="9fd8d6"/>
                </a:solidFill>
                <a:latin typeface="Calibri"/>
                <a:ea typeface="Calibri"/>
              </a:rPr>
              <a:t>BIOMD501  ·  RESEARCH GRANT PROPOSAL</a:t>
            </a:r>
            <a:endParaRPr b="0" lang="en-US" sz="1300" spc="-1" strike="noStrike">
              <a:solidFill>
                <a:srgbClr val="ffffff"/>
              </a:solidFill>
              <a:latin typeface="Arial"/>
            </a:endParaRPr>
          </a:p>
        </p:txBody>
      </p:sp>
      <p:sp>
        <p:nvSpPr>
          <p:cNvPr id="13" name="Text 4"/>
          <p:cNvSpPr/>
          <p:nvPr/>
        </p:nvSpPr>
        <p:spPr>
          <a:xfrm>
            <a:off x="548640" y="1188720"/>
            <a:ext cx="5851800" cy="1554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800" spc="-1" strike="noStrike">
                <a:solidFill>
                  <a:srgbClr val="ffffff"/>
                </a:solidFill>
                <a:latin typeface="Cambria"/>
                <a:ea typeface="Cambria"/>
              </a:rPr>
              <a:t>Can Pemetrexed Be Stopped When ctDNA Clears?</a:t>
            </a:r>
            <a:endParaRPr b="0" lang="en-US" sz="3800" spc="-1" strike="noStrike">
              <a:solidFill>
                <a:srgbClr val="ffffff"/>
              </a:solidFill>
              <a:latin typeface="Arial"/>
            </a:endParaRPr>
          </a:p>
        </p:txBody>
      </p:sp>
      <p:sp>
        <p:nvSpPr>
          <p:cNvPr id="14" name="Text 5"/>
          <p:cNvSpPr/>
          <p:nvPr/>
        </p:nvSpPr>
        <p:spPr>
          <a:xfrm>
            <a:off x="548640" y="3200400"/>
            <a:ext cx="566892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800" spc="-1" strike="noStrike">
                <a:solidFill>
                  <a:srgbClr val="cfe3f0"/>
                </a:solidFill>
                <a:latin typeface="Calibri"/>
                <a:ea typeface="Calibri"/>
              </a:rPr>
              <a:t>A randomised trial with AI analysis in EGFR-mutated lung cancer</a:t>
            </a:r>
            <a:endParaRPr b="0" lang="en-US" sz="1800" spc="-1" strike="noStrike">
              <a:solidFill>
                <a:srgbClr val="ffffff"/>
              </a:solidFill>
              <a:latin typeface="Arial"/>
            </a:endParaRPr>
          </a:p>
        </p:txBody>
      </p:sp>
      <p:sp>
        <p:nvSpPr>
          <p:cNvPr id="15" name="Text 6"/>
          <p:cNvSpPr/>
          <p:nvPr/>
        </p:nvSpPr>
        <p:spPr>
          <a:xfrm>
            <a:off x="548640" y="4114800"/>
            <a:ext cx="4571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rgbClr val="ffffff"/>
                </a:solidFill>
                <a:latin typeface="Calibri"/>
                <a:ea typeface="Calibri"/>
              </a:rPr>
              <a:t>Aditya Bhattacharjee</a:t>
            </a:r>
            <a:endParaRPr b="0" lang="en-US" sz="1600" spc="-1" strike="noStrike">
              <a:solidFill>
                <a:srgbClr val="ffffff"/>
              </a:solidFill>
              <a:latin typeface="Arial"/>
            </a:endParaRPr>
          </a:p>
        </p:txBody>
      </p:sp>
      <p:sp>
        <p:nvSpPr>
          <p:cNvPr id="16" name="Text 7"/>
          <p:cNvSpPr/>
          <p:nvPr/>
        </p:nvSpPr>
        <p:spPr>
          <a:xfrm>
            <a:off x="548640" y="4389120"/>
            <a:ext cx="4571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9fb3c8"/>
                </a:solidFill>
                <a:latin typeface="Calibri"/>
                <a:ea typeface="Calibri"/>
              </a:rPr>
              <a:t>I698938</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The whole project in 30 seconds</a:t>
            </a:r>
            <a:endParaRPr b="0" lang="en-US" sz="3200" spc="-1" strike="noStrike">
              <a:solidFill>
                <a:srgbClr val="000000"/>
              </a:solidFill>
              <a:latin typeface="Arial"/>
            </a:endParaRPr>
          </a:p>
        </p:txBody>
      </p:sp>
      <p:sp>
        <p:nvSpPr>
          <p:cNvPr id="18"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2</a:t>
            </a:r>
            <a:endParaRPr b="0" lang="en-US" sz="1000" spc="-1" strike="noStrike">
              <a:solidFill>
                <a:srgbClr val="000000"/>
              </a:solidFill>
              <a:latin typeface="Arial"/>
            </a:endParaRPr>
          </a:p>
        </p:txBody>
      </p:sp>
      <p:sp>
        <p:nvSpPr>
          <p:cNvPr id="19" name="Shape 2"/>
          <p:cNvSpPr/>
          <p:nvPr/>
        </p:nvSpPr>
        <p:spPr>
          <a:xfrm>
            <a:off x="457200" y="1188720"/>
            <a:ext cx="1919880" cy="3017160"/>
          </a:xfrm>
          <a:prstGeom prst="roundRect">
            <a:avLst>
              <a:gd name="adj" fmla="val 5714"/>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Shape 3"/>
          <p:cNvSpPr/>
          <p:nvPr/>
        </p:nvSpPr>
        <p:spPr>
          <a:xfrm>
            <a:off x="960120" y="1371600"/>
            <a:ext cx="914040" cy="914040"/>
          </a:xfrm>
          <a:prstGeom prst="ellipse">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1" name="Image 0" descr="preencoded.png"/>
          <p:cNvPicPr/>
          <p:nvPr/>
        </p:nvPicPr>
        <p:blipFill>
          <a:blip r:embed="rId1"/>
          <a:stretch/>
        </p:blipFill>
        <p:spPr>
          <a:xfrm>
            <a:off x="1188720" y="1600200"/>
            <a:ext cx="456840" cy="456840"/>
          </a:xfrm>
          <a:prstGeom prst="rect">
            <a:avLst/>
          </a:prstGeom>
          <a:ln w="0">
            <a:noFill/>
          </a:ln>
        </p:spPr>
      </p:pic>
      <p:sp>
        <p:nvSpPr>
          <p:cNvPr id="22" name="Text 4"/>
          <p:cNvSpPr/>
          <p:nvPr/>
        </p:nvSpPr>
        <p:spPr>
          <a:xfrm>
            <a:off x="594360" y="2468880"/>
            <a:ext cx="16455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The patient</a:t>
            </a:r>
            <a:endParaRPr b="0" lang="en-US" sz="1800" spc="-1" strike="noStrike">
              <a:solidFill>
                <a:srgbClr val="000000"/>
              </a:solidFill>
              <a:latin typeface="Arial"/>
            </a:endParaRPr>
          </a:p>
        </p:txBody>
      </p:sp>
      <p:sp>
        <p:nvSpPr>
          <p:cNvPr id="23" name="Text 5"/>
          <p:cNvSpPr/>
          <p:nvPr/>
        </p:nvSpPr>
        <p:spPr>
          <a:xfrm>
            <a:off x="594360" y="2880360"/>
            <a:ext cx="1645560" cy="1279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Advanced EGFR-mutated lung cancer, treated with a pill plus chemo.</a:t>
            </a:r>
            <a:endParaRPr b="0" lang="en-US" sz="1400" spc="-1" strike="noStrike">
              <a:solidFill>
                <a:srgbClr val="000000"/>
              </a:solidFill>
              <a:latin typeface="Arial"/>
            </a:endParaRPr>
          </a:p>
        </p:txBody>
      </p:sp>
      <p:sp>
        <p:nvSpPr>
          <p:cNvPr id="24" name="Shape 6"/>
          <p:cNvSpPr/>
          <p:nvPr/>
        </p:nvSpPr>
        <p:spPr>
          <a:xfrm>
            <a:off x="2541960" y="1188720"/>
            <a:ext cx="1919880" cy="3017160"/>
          </a:xfrm>
          <a:prstGeom prst="roundRect">
            <a:avLst>
              <a:gd name="adj" fmla="val 5714"/>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Shape 7"/>
          <p:cNvSpPr/>
          <p:nvPr/>
        </p:nvSpPr>
        <p:spPr>
          <a:xfrm>
            <a:off x="3044880" y="1371600"/>
            <a:ext cx="914040" cy="9140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6" name="Image 1" descr="preencoded.png"/>
          <p:cNvPicPr/>
          <p:nvPr/>
        </p:nvPicPr>
        <p:blipFill>
          <a:blip r:embed="rId2"/>
          <a:stretch/>
        </p:blipFill>
        <p:spPr>
          <a:xfrm>
            <a:off x="3273480" y="1600200"/>
            <a:ext cx="456840" cy="456840"/>
          </a:xfrm>
          <a:prstGeom prst="rect">
            <a:avLst/>
          </a:prstGeom>
          <a:ln w="0">
            <a:noFill/>
          </a:ln>
        </p:spPr>
      </p:pic>
      <p:sp>
        <p:nvSpPr>
          <p:cNvPr id="27" name="Text 8"/>
          <p:cNvSpPr/>
          <p:nvPr/>
        </p:nvSpPr>
        <p:spPr>
          <a:xfrm>
            <a:off x="2679120" y="2468880"/>
            <a:ext cx="16455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The clue</a:t>
            </a:r>
            <a:endParaRPr b="0" lang="en-US" sz="1800" spc="-1" strike="noStrike">
              <a:solidFill>
                <a:srgbClr val="000000"/>
              </a:solidFill>
              <a:latin typeface="Arial"/>
            </a:endParaRPr>
          </a:p>
        </p:txBody>
      </p:sp>
      <p:sp>
        <p:nvSpPr>
          <p:cNvPr id="28" name="Text 9"/>
          <p:cNvSpPr/>
          <p:nvPr/>
        </p:nvSpPr>
        <p:spPr>
          <a:xfrm>
            <a:off x="2679120" y="2880360"/>
            <a:ext cx="1645560" cy="1279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A blood test (ctDNA) shows if cancer DNA has disappeared.</a:t>
            </a:r>
            <a:endParaRPr b="0" lang="en-US" sz="1400" spc="-1" strike="noStrike">
              <a:solidFill>
                <a:srgbClr val="000000"/>
              </a:solidFill>
              <a:latin typeface="Arial"/>
            </a:endParaRPr>
          </a:p>
        </p:txBody>
      </p:sp>
      <p:sp>
        <p:nvSpPr>
          <p:cNvPr id="29" name="Shape 10"/>
          <p:cNvSpPr/>
          <p:nvPr/>
        </p:nvSpPr>
        <p:spPr>
          <a:xfrm>
            <a:off x="4626720" y="1188720"/>
            <a:ext cx="1919880" cy="3017160"/>
          </a:xfrm>
          <a:prstGeom prst="roundRect">
            <a:avLst>
              <a:gd name="adj" fmla="val 5714"/>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 name="Shape 11"/>
          <p:cNvSpPr/>
          <p:nvPr/>
        </p:nvSpPr>
        <p:spPr>
          <a:xfrm>
            <a:off x="5129640" y="1371600"/>
            <a:ext cx="914040" cy="91404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1" name="Image 2" descr="preencoded.png"/>
          <p:cNvPicPr/>
          <p:nvPr/>
        </p:nvPicPr>
        <p:blipFill>
          <a:blip r:embed="rId3"/>
          <a:stretch/>
        </p:blipFill>
        <p:spPr>
          <a:xfrm>
            <a:off x="5358240" y="1600200"/>
            <a:ext cx="456840" cy="456840"/>
          </a:xfrm>
          <a:prstGeom prst="rect">
            <a:avLst/>
          </a:prstGeom>
          <a:ln w="0">
            <a:noFill/>
          </a:ln>
        </p:spPr>
      </p:pic>
      <p:sp>
        <p:nvSpPr>
          <p:cNvPr id="32" name="Text 12"/>
          <p:cNvSpPr/>
          <p:nvPr/>
        </p:nvSpPr>
        <p:spPr>
          <a:xfrm>
            <a:off x="4763880" y="2468880"/>
            <a:ext cx="16455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The question</a:t>
            </a:r>
            <a:endParaRPr b="0" lang="en-US" sz="1800" spc="-1" strike="noStrike">
              <a:solidFill>
                <a:srgbClr val="000000"/>
              </a:solidFill>
              <a:latin typeface="Arial"/>
            </a:endParaRPr>
          </a:p>
        </p:txBody>
      </p:sp>
      <p:sp>
        <p:nvSpPr>
          <p:cNvPr id="33" name="Text 13"/>
          <p:cNvSpPr/>
          <p:nvPr/>
        </p:nvSpPr>
        <p:spPr>
          <a:xfrm>
            <a:off x="4763880" y="2880360"/>
            <a:ext cx="1645560" cy="1279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If it has cleared, can we safely stop the chemo drug pemetrexed?</a:t>
            </a:r>
            <a:endParaRPr b="0" lang="en-US" sz="1400" spc="-1" strike="noStrike">
              <a:solidFill>
                <a:srgbClr val="000000"/>
              </a:solidFill>
              <a:latin typeface="Arial"/>
            </a:endParaRPr>
          </a:p>
        </p:txBody>
      </p:sp>
      <p:sp>
        <p:nvSpPr>
          <p:cNvPr id="34" name="Shape 14"/>
          <p:cNvSpPr/>
          <p:nvPr/>
        </p:nvSpPr>
        <p:spPr>
          <a:xfrm>
            <a:off x="6711840" y="1188720"/>
            <a:ext cx="1919880" cy="3017160"/>
          </a:xfrm>
          <a:prstGeom prst="roundRect">
            <a:avLst>
              <a:gd name="adj" fmla="val 5714"/>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 name="Shape 15"/>
          <p:cNvSpPr/>
          <p:nvPr/>
        </p:nvSpPr>
        <p:spPr>
          <a:xfrm>
            <a:off x="7214760" y="1371600"/>
            <a:ext cx="914040" cy="91404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6" name="Image 3" descr="preencoded.png"/>
          <p:cNvPicPr/>
          <p:nvPr/>
        </p:nvPicPr>
        <p:blipFill>
          <a:blip r:embed="rId4"/>
          <a:stretch/>
        </p:blipFill>
        <p:spPr>
          <a:xfrm>
            <a:off x="7443360" y="1600200"/>
            <a:ext cx="456840" cy="456840"/>
          </a:xfrm>
          <a:prstGeom prst="rect">
            <a:avLst/>
          </a:prstGeom>
          <a:ln w="0">
            <a:noFill/>
          </a:ln>
        </p:spPr>
      </p:pic>
      <p:sp>
        <p:nvSpPr>
          <p:cNvPr id="37" name="Text 16"/>
          <p:cNvSpPr/>
          <p:nvPr/>
        </p:nvSpPr>
        <p:spPr>
          <a:xfrm>
            <a:off x="6849000" y="2468880"/>
            <a:ext cx="16455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The test</a:t>
            </a:r>
            <a:endParaRPr b="0" lang="en-US" sz="1800" spc="-1" strike="noStrike">
              <a:solidFill>
                <a:srgbClr val="000000"/>
              </a:solidFill>
              <a:latin typeface="Arial"/>
            </a:endParaRPr>
          </a:p>
        </p:txBody>
      </p:sp>
      <p:sp>
        <p:nvSpPr>
          <p:cNvPr id="38" name="Text 17"/>
          <p:cNvSpPr/>
          <p:nvPr/>
        </p:nvSpPr>
        <p:spPr>
          <a:xfrm>
            <a:off x="6849000" y="2880360"/>
            <a:ext cx="1645560" cy="1279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A randomised trial: keep pemetrexed vs stop it. Same outcome?</a:t>
            </a:r>
            <a:endParaRPr b="0" lang="en-US" sz="1400" spc="-1" strike="noStrike">
              <a:solidFill>
                <a:srgbClr val="000000"/>
              </a:solidFill>
              <a:latin typeface="Arial"/>
            </a:endParaRPr>
          </a:p>
        </p:txBody>
      </p:sp>
      <p:sp>
        <p:nvSpPr>
          <p:cNvPr id="39" name="Text 18"/>
          <p:cNvSpPr/>
          <p:nvPr/>
        </p:nvSpPr>
        <p:spPr>
          <a:xfrm>
            <a:off x="457200" y="4343400"/>
            <a:ext cx="822924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0f8b8d"/>
                </a:solidFill>
                <a:latin typeface="Calibri"/>
                <a:ea typeface="Calibri"/>
              </a:rPr>
              <a:t>Goal: less chemotherapy, fewer side effects, same control of the cancer.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The problem: strong but heavy</a:t>
            </a:r>
            <a:endParaRPr b="0" lang="en-US" sz="3200" spc="-1" strike="noStrike">
              <a:solidFill>
                <a:srgbClr val="000000"/>
              </a:solidFill>
              <a:latin typeface="Arial"/>
            </a:endParaRPr>
          </a:p>
        </p:txBody>
      </p:sp>
      <p:sp>
        <p:nvSpPr>
          <p:cNvPr id="41"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0f8b8d"/>
                </a:solidFill>
                <a:latin typeface="Calibri"/>
                <a:ea typeface="Calibri"/>
              </a:rPr>
              <a:t>Osimertinib alone vs osimertinib + platinum–pemetrexed chemo (FLAURA2 trial)</a:t>
            </a:r>
            <a:endParaRPr b="0" lang="en-US" sz="1600" spc="-1" strike="noStrike">
              <a:solidFill>
                <a:srgbClr val="000000"/>
              </a:solidFill>
              <a:latin typeface="Arial"/>
            </a:endParaRPr>
          </a:p>
        </p:txBody>
      </p:sp>
      <p:sp>
        <p:nvSpPr>
          <p:cNvPr id="42"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3</a:t>
            </a:r>
            <a:endParaRPr b="0" lang="en-US" sz="1000" spc="-1" strike="noStrike">
              <a:solidFill>
                <a:srgbClr val="000000"/>
              </a:solidFill>
              <a:latin typeface="Arial"/>
            </a:endParaRPr>
          </a:p>
        </p:txBody>
      </p:sp>
      <p:sp>
        <p:nvSpPr>
          <p:cNvPr id="43" name="Shape 3"/>
          <p:cNvSpPr/>
          <p:nvPr/>
        </p:nvSpPr>
        <p:spPr>
          <a:xfrm>
            <a:off x="457200" y="1417320"/>
            <a:ext cx="4023000" cy="2742840"/>
          </a:xfrm>
          <a:prstGeom prst="roundRect">
            <a:avLst>
              <a:gd name="adj" fmla="val 4000"/>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 name="Text 4"/>
          <p:cNvSpPr/>
          <p:nvPr/>
        </p:nvSpPr>
        <p:spPr>
          <a:xfrm>
            <a:off x="640080" y="148140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b2545"/>
                </a:solidFill>
                <a:latin typeface="Calibri"/>
                <a:ea typeface="Calibri"/>
              </a:rPr>
              <a:t>Median progression-free survival (months)</a:t>
            </a:r>
            <a:endParaRPr b="0" lang="en-US" sz="1300" spc="-1" strike="noStrike">
              <a:solidFill>
                <a:srgbClr val="000000"/>
              </a:solidFill>
              <a:latin typeface="Arial"/>
            </a:endParaRPr>
          </a:p>
        </p:txBody>
      </p:sp>
      <p:graphicFrame>
        <p:nvGraphicFramePr>
          <p:cNvPr id="45" name="Chart 0"/>
          <p:cNvGraphicFramePr/>
          <p:nvPr/>
        </p:nvGraphicFramePr>
        <p:xfrm>
          <a:off x="548640" y="1737360"/>
          <a:ext cx="3840120" cy="2377080"/>
        </p:xfrm>
        <a:graphic>
          <a:graphicData uri="http://schemas.openxmlformats.org/drawingml/2006/chart">
            <c:chart xmlns:c="http://schemas.openxmlformats.org/drawingml/2006/chart" xmlns:r="http://schemas.openxmlformats.org/officeDocument/2006/relationships" r:id="rId1"/>
          </a:graphicData>
        </a:graphic>
      </p:graphicFrame>
      <p:sp>
        <p:nvSpPr>
          <p:cNvPr id="46" name="Shape 5"/>
          <p:cNvSpPr/>
          <p:nvPr/>
        </p:nvSpPr>
        <p:spPr>
          <a:xfrm>
            <a:off x="4663440" y="1417320"/>
            <a:ext cx="4023000" cy="2742840"/>
          </a:xfrm>
          <a:prstGeom prst="roundRect">
            <a:avLst>
              <a:gd name="adj" fmla="val 4000"/>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 name="Text 6"/>
          <p:cNvSpPr/>
          <p:nvPr/>
        </p:nvSpPr>
        <p:spPr>
          <a:xfrm>
            <a:off x="4846320" y="148140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b2545"/>
                </a:solidFill>
                <a:latin typeface="Calibri"/>
                <a:ea typeface="Calibri"/>
              </a:rPr>
              <a:t>Patients with grade ≥3 side effects (%)</a:t>
            </a:r>
            <a:endParaRPr b="0" lang="en-US" sz="1300" spc="-1" strike="noStrike">
              <a:solidFill>
                <a:srgbClr val="000000"/>
              </a:solidFill>
              <a:latin typeface="Arial"/>
            </a:endParaRPr>
          </a:p>
        </p:txBody>
      </p:sp>
      <p:graphicFrame>
        <p:nvGraphicFramePr>
          <p:cNvPr id="48" name="Chart 1"/>
          <p:cNvGraphicFramePr/>
          <p:nvPr/>
        </p:nvGraphicFramePr>
        <p:xfrm>
          <a:off x="4754880" y="1737360"/>
          <a:ext cx="3840120" cy="2377080"/>
        </p:xfrm>
        <a:graphic>
          <a:graphicData uri="http://schemas.openxmlformats.org/drawingml/2006/chart">
            <c:chart xmlns:c="http://schemas.openxmlformats.org/drawingml/2006/chart" xmlns:r="http://schemas.openxmlformats.org/officeDocument/2006/relationships" r:id="rId2"/>
          </a:graphicData>
        </a:graphic>
      </p:graphicFrame>
      <p:sp>
        <p:nvSpPr>
          <p:cNvPr id="49" name="Text 7"/>
          <p:cNvSpPr/>
          <p:nvPr/>
        </p:nvSpPr>
        <p:spPr>
          <a:xfrm>
            <a:off x="457200" y="4297680"/>
            <a:ext cx="822924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sz="1400" b="1">
                <a:solidFill>
                  <a:srgbClr val="1F2D3D"/>
                </a:solidFill>
                <a:latin typeface="Calibri"/>
              </a:rPr>
              <a:t>The combination improves disease control, but grade ≥3 adverse events were more common (70% vs 34%).</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What is ctDNA?</a:t>
            </a:r>
            <a:endParaRPr b="0" lang="en-US" sz="3200" spc="-1" strike="noStrike">
              <a:solidFill>
                <a:srgbClr val="000000"/>
              </a:solidFill>
              <a:latin typeface="Arial"/>
            </a:endParaRPr>
          </a:p>
        </p:txBody>
      </p:sp>
      <p:sp>
        <p:nvSpPr>
          <p:cNvPr id="51"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0f8b8d"/>
                </a:solidFill>
                <a:latin typeface="Calibri"/>
                <a:ea typeface="Calibri"/>
              </a:rPr>
              <a:t>A blood test that tells us if the cancer is still shedding DNA</a:t>
            </a:r>
            <a:endParaRPr b="0" lang="en-US" sz="1600" spc="-1" strike="noStrike">
              <a:solidFill>
                <a:srgbClr val="000000"/>
              </a:solidFill>
              <a:latin typeface="Arial"/>
            </a:endParaRPr>
          </a:p>
        </p:txBody>
      </p:sp>
      <p:sp>
        <p:nvSpPr>
          <p:cNvPr id="52"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4</a:t>
            </a:r>
            <a:endParaRPr b="0" lang="en-US" sz="1000" spc="-1" strike="noStrike">
              <a:solidFill>
                <a:srgbClr val="000000"/>
              </a:solidFill>
              <a:latin typeface="Arial"/>
            </a:endParaRPr>
          </a:p>
        </p:txBody>
      </p:sp>
      <p:sp>
        <p:nvSpPr>
          <p:cNvPr id="53" name="Shape 3"/>
          <p:cNvSpPr/>
          <p:nvPr/>
        </p:nvSpPr>
        <p:spPr>
          <a:xfrm>
            <a:off x="868680" y="1463040"/>
            <a:ext cx="1005480" cy="1005480"/>
          </a:xfrm>
          <a:prstGeom prst="ellipse">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4" name="Image 0" descr="preencoded.png"/>
          <p:cNvPicPr/>
          <p:nvPr/>
        </p:nvPicPr>
        <p:blipFill>
          <a:blip r:embed="rId1"/>
          <a:stretch/>
        </p:blipFill>
        <p:spPr>
          <a:xfrm>
            <a:off x="1120320" y="1714680"/>
            <a:ext cx="502560" cy="502560"/>
          </a:xfrm>
          <a:prstGeom prst="rect">
            <a:avLst/>
          </a:prstGeom>
          <a:ln w="0">
            <a:noFill/>
          </a:ln>
        </p:spPr>
      </p:pic>
      <p:sp>
        <p:nvSpPr>
          <p:cNvPr id="55" name="Text 4"/>
          <p:cNvSpPr/>
          <p:nvPr/>
        </p:nvSpPr>
        <p:spPr>
          <a:xfrm>
            <a:off x="457200" y="2606040"/>
            <a:ext cx="182844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Tumour</a:t>
            </a:r>
            <a:endParaRPr b="0" lang="en-US" sz="1800" spc="-1" strike="noStrike">
              <a:solidFill>
                <a:srgbClr val="000000"/>
              </a:solidFill>
              <a:latin typeface="Arial"/>
            </a:endParaRPr>
          </a:p>
        </p:txBody>
      </p:sp>
      <p:sp>
        <p:nvSpPr>
          <p:cNvPr id="56" name="Text 5"/>
          <p:cNvSpPr/>
          <p:nvPr/>
        </p:nvSpPr>
        <p:spPr>
          <a:xfrm>
            <a:off x="502920" y="2944440"/>
            <a:ext cx="173700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Cancer cells die and release tiny DNA pieces</a:t>
            </a:r>
            <a:endParaRPr b="0" lang="en-US" sz="1300" spc="-1" strike="noStrike">
              <a:solidFill>
                <a:srgbClr val="000000"/>
              </a:solidFill>
              <a:latin typeface="Arial"/>
            </a:endParaRPr>
          </a:p>
        </p:txBody>
      </p:sp>
      <p:sp>
        <p:nvSpPr>
          <p:cNvPr id="57" name="Text 6"/>
          <p:cNvSpPr/>
          <p:nvPr/>
        </p:nvSpPr>
        <p:spPr>
          <a:xfrm>
            <a:off x="2148840" y="1600200"/>
            <a:ext cx="45684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3600" spc="-1" strike="noStrike">
                <a:solidFill>
                  <a:srgbClr val="b8c4ce"/>
                </a:solidFill>
                <a:latin typeface="Calibri"/>
                <a:ea typeface="Calibri"/>
              </a:rPr>
              <a:t>›</a:t>
            </a:r>
            <a:endParaRPr b="0" lang="en-US" sz="3600" spc="-1" strike="noStrike">
              <a:solidFill>
                <a:srgbClr val="000000"/>
              </a:solidFill>
              <a:latin typeface="Arial"/>
            </a:endParaRPr>
          </a:p>
        </p:txBody>
      </p:sp>
      <p:sp>
        <p:nvSpPr>
          <p:cNvPr id="58" name="Shape 7"/>
          <p:cNvSpPr/>
          <p:nvPr/>
        </p:nvSpPr>
        <p:spPr>
          <a:xfrm>
            <a:off x="2971800" y="1463040"/>
            <a:ext cx="1005480" cy="100548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9" name="Image 1" descr="preencoded.png"/>
          <p:cNvPicPr/>
          <p:nvPr/>
        </p:nvPicPr>
        <p:blipFill>
          <a:blip r:embed="rId2"/>
          <a:stretch/>
        </p:blipFill>
        <p:spPr>
          <a:xfrm>
            <a:off x="3223440" y="1714680"/>
            <a:ext cx="502560" cy="502560"/>
          </a:xfrm>
          <a:prstGeom prst="rect">
            <a:avLst/>
          </a:prstGeom>
          <a:ln w="0">
            <a:noFill/>
          </a:ln>
        </p:spPr>
      </p:pic>
      <p:sp>
        <p:nvSpPr>
          <p:cNvPr id="60" name="Text 8"/>
          <p:cNvSpPr/>
          <p:nvPr/>
        </p:nvSpPr>
        <p:spPr>
          <a:xfrm>
            <a:off x="2560320" y="2606040"/>
            <a:ext cx="182844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Blood</a:t>
            </a:r>
            <a:endParaRPr b="0" lang="en-US" sz="1800" spc="-1" strike="noStrike">
              <a:solidFill>
                <a:srgbClr val="000000"/>
              </a:solidFill>
              <a:latin typeface="Arial"/>
            </a:endParaRPr>
          </a:p>
        </p:txBody>
      </p:sp>
      <p:sp>
        <p:nvSpPr>
          <p:cNvPr id="61" name="Text 9"/>
          <p:cNvSpPr/>
          <p:nvPr/>
        </p:nvSpPr>
        <p:spPr>
          <a:xfrm>
            <a:off x="2606040" y="2944440"/>
            <a:ext cx="173700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The DNA fragments circulate in the bloodstream</a:t>
            </a:r>
            <a:endParaRPr b="0" lang="en-US" sz="1300" spc="-1" strike="noStrike">
              <a:solidFill>
                <a:srgbClr val="000000"/>
              </a:solidFill>
              <a:latin typeface="Arial"/>
            </a:endParaRPr>
          </a:p>
        </p:txBody>
      </p:sp>
      <p:sp>
        <p:nvSpPr>
          <p:cNvPr id="62" name="Text 10"/>
          <p:cNvSpPr/>
          <p:nvPr/>
        </p:nvSpPr>
        <p:spPr>
          <a:xfrm>
            <a:off x="4251960" y="1600200"/>
            <a:ext cx="45684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3600" spc="-1" strike="noStrike">
                <a:solidFill>
                  <a:srgbClr val="b8c4ce"/>
                </a:solidFill>
                <a:latin typeface="Calibri"/>
                <a:ea typeface="Calibri"/>
              </a:rPr>
              <a:t>›</a:t>
            </a:r>
            <a:endParaRPr b="0" lang="en-US" sz="3600" spc="-1" strike="noStrike">
              <a:solidFill>
                <a:srgbClr val="000000"/>
              </a:solidFill>
              <a:latin typeface="Arial"/>
            </a:endParaRPr>
          </a:p>
        </p:txBody>
      </p:sp>
      <p:sp>
        <p:nvSpPr>
          <p:cNvPr id="63" name="Shape 11"/>
          <p:cNvSpPr/>
          <p:nvPr/>
        </p:nvSpPr>
        <p:spPr>
          <a:xfrm>
            <a:off x="5074920" y="1463040"/>
            <a:ext cx="1005480" cy="100548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4" name="Image 2" descr="preencoded.png"/>
          <p:cNvPicPr/>
          <p:nvPr/>
        </p:nvPicPr>
        <p:blipFill>
          <a:blip r:embed="rId3"/>
          <a:stretch/>
        </p:blipFill>
        <p:spPr>
          <a:xfrm>
            <a:off x="5326560" y="1714680"/>
            <a:ext cx="502560" cy="502560"/>
          </a:xfrm>
          <a:prstGeom prst="rect">
            <a:avLst/>
          </a:prstGeom>
          <a:ln w="0">
            <a:noFill/>
          </a:ln>
        </p:spPr>
      </p:pic>
      <p:sp>
        <p:nvSpPr>
          <p:cNvPr id="65" name="Text 12"/>
          <p:cNvSpPr/>
          <p:nvPr/>
        </p:nvSpPr>
        <p:spPr>
          <a:xfrm>
            <a:off x="4663440" y="2606040"/>
            <a:ext cx="182844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Lab test</a:t>
            </a:r>
            <a:endParaRPr b="0" lang="en-US" sz="1800" spc="-1" strike="noStrike">
              <a:solidFill>
                <a:srgbClr val="000000"/>
              </a:solidFill>
              <a:latin typeface="Arial"/>
            </a:endParaRPr>
          </a:p>
        </p:txBody>
      </p:sp>
      <p:sp>
        <p:nvSpPr>
          <p:cNvPr id="66" name="Text 13"/>
          <p:cNvSpPr/>
          <p:nvPr/>
        </p:nvSpPr>
        <p:spPr>
          <a:xfrm>
            <a:off x="4709160" y="2944440"/>
            <a:ext cx="173700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ddPCR looks for the EGFR mutation in plasma</a:t>
            </a:r>
            <a:endParaRPr b="0" lang="en-US" sz="1300" spc="-1" strike="noStrike">
              <a:solidFill>
                <a:srgbClr val="000000"/>
              </a:solidFill>
              <a:latin typeface="Arial"/>
            </a:endParaRPr>
          </a:p>
        </p:txBody>
      </p:sp>
      <p:sp>
        <p:nvSpPr>
          <p:cNvPr id="67" name="Text 14"/>
          <p:cNvSpPr/>
          <p:nvPr/>
        </p:nvSpPr>
        <p:spPr>
          <a:xfrm>
            <a:off x="6355080" y="1600200"/>
            <a:ext cx="45684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3600" spc="-1" strike="noStrike">
                <a:solidFill>
                  <a:srgbClr val="b8c4ce"/>
                </a:solidFill>
                <a:latin typeface="Calibri"/>
                <a:ea typeface="Calibri"/>
              </a:rPr>
              <a:t>›</a:t>
            </a:r>
            <a:endParaRPr b="0" lang="en-US" sz="3600" spc="-1" strike="noStrike">
              <a:solidFill>
                <a:srgbClr val="000000"/>
              </a:solidFill>
              <a:latin typeface="Arial"/>
            </a:endParaRPr>
          </a:p>
        </p:txBody>
      </p:sp>
      <p:sp>
        <p:nvSpPr>
          <p:cNvPr id="68" name="Shape 15"/>
          <p:cNvSpPr/>
          <p:nvPr/>
        </p:nvSpPr>
        <p:spPr>
          <a:xfrm>
            <a:off x="7178040" y="1463040"/>
            <a:ext cx="1005480" cy="100548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9" name="Image 3" descr="preencoded.png"/>
          <p:cNvPicPr/>
          <p:nvPr/>
        </p:nvPicPr>
        <p:blipFill>
          <a:blip r:embed="rId4"/>
          <a:stretch/>
        </p:blipFill>
        <p:spPr>
          <a:xfrm>
            <a:off x="7429680" y="1714680"/>
            <a:ext cx="502560" cy="502560"/>
          </a:xfrm>
          <a:prstGeom prst="rect">
            <a:avLst/>
          </a:prstGeom>
          <a:ln w="0">
            <a:noFill/>
          </a:ln>
        </p:spPr>
      </p:pic>
      <p:sp>
        <p:nvSpPr>
          <p:cNvPr id="70" name="Text 16"/>
          <p:cNvSpPr/>
          <p:nvPr/>
        </p:nvSpPr>
        <p:spPr>
          <a:xfrm>
            <a:off x="6766560" y="2606040"/>
            <a:ext cx="182844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0b2545"/>
                </a:solidFill>
                <a:latin typeface="Cambria"/>
                <a:ea typeface="Cambria"/>
              </a:rPr>
              <a:t>Result</a:t>
            </a:r>
            <a:endParaRPr b="0" lang="en-US" sz="1800" spc="-1" strike="noStrike">
              <a:solidFill>
                <a:srgbClr val="000000"/>
              </a:solidFill>
              <a:latin typeface="Arial"/>
            </a:endParaRPr>
          </a:p>
        </p:txBody>
      </p:sp>
      <p:sp>
        <p:nvSpPr>
          <p:cNvPr id="71" name="Text 17"/>
          <p:cNvSpPr/>
          <p:nvPr/>
        </p:nvSpPr>
        <p:spPr>
          <a:xfrm>
            <a:off x="6812280" y="2944440"/>
            <a:ext cx="1737000" cy="822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"Undetectable" = no cancer DNA found (clearance)</a:t>
            </a:r>
            <a:endParaRPr b="0" lang="en-US" sz="1300" spc="-1" strike="noStrike">
              <a:solidFill>
                <a:srgbClr val="000000"/>
              </a:solidFill>
              <a:latin typeface="Arial"/>
            </a:endParaRPr>
          </a:p>
        </p:txBody>
      </p:sp>
      <p:sp>
        <p:nvSpPr>
          <p:cNvPr id="72" name="Shape 18"/>
          <p:cNvSpPr/>
          <p:nvPr/>
        </p:nvSpPr>
        <p:spPr>
          <a:xfrm>
            <a:off x="457200" y="3931920"/>
            <a:ext cx="8229240" cy="685440"/>
          </a:xfrm>
          <a:prstGeom prst="roundRect">
            <a:avLst>
              <a:gd name="adj" fmla="val 16000"/>
            </a:avLst>
          </a:prstGeom>
          <a:solidFill>
            <a:srgbClr val="ddf2f0"/>
          </a:solidFill>
          <a:ln w="12700">
            <a:solidFill>
              <a:srgbClr val="ddf2f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 name="Text 19"/>
          <p:cNvSpPr/>
          <p:nvPr/>
        </p:nvSpPr>
        <p:spPr>
          <a:xfrm>
            <a:off x="640080" y="3931920"/>
            <a:ext cx="786348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sz="1400" b="1">
                <a:solidFill>
                  <a:srgbClr val="0B2545"/>
                </a:solidFill>
                <a:latin typeface="Calibri"/>
              </a:rPr>
              <a:t>Why it matters: blood can track molecular response, often avoiding repeat tumour biopsies. Early ctDNA clearance is associated with better outcomes—but does not prove treatment can be stopped safely.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What is known, and what is missing</a:t>
            </a:r>
            <a:endParaRPr b="0" lang="en-US" sz="3200" spc="-1" strike="noStrike">
              <a:solidFill>
                <a:srgbClr val="000000"/>
              </a:solidFill>
              <a:latin typeface="Arial"/>
            </a:endParaRPr>
          </a:p>
        </p:txBody>
      </p:sp>
      <p:sp>
        <p:nvSpPr>
          <p:cNvPr id="75"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0f8b8d"/>
                </a:solidFill>
                <a:latin typeface="Calibri"/>
                <a:ea typeface="Calibri"/>
              </a:rPr>
              <a:t>Existing evidence, in one view</a:t>
            </a:r>
            <a:endParaRPr b="0" lang="en-US" sz="1600" spc="-1" strike="noStrike">
              <a:solidFill>
                <a:srgbClr val="000000"/>
              </a:solidFill>
              <a:latin typeface="Arial"/>
            </a:endParaRPr>
          </a:p>
        </p:txBody>
      </p:sp>
      <p:sp>
        <p:nvSpPr>
          <p:cNvPr id="76"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5</a:t>
            </a:r>
            <a:endParaRPr b="0" lang="en-US" sz="1000" spc="-1" strike="noStrike">
              <a:solidFill>
                <a:srgbClr val="000000"/>
              </a:solidFill>
              <a:latin typeface="Arial"/>
            </a:endParaRPr>
          </a:p>
        </p:txBody>
      </p:sp>
      <p:sp>
        <p:nvSpPr>
          <p:cNvPr id="77" name="Shape 3"/>
          <p:cNvSpPr/>
          <p:nvPr/>
        </p:nvSpPr>
        <p:spPr>
          <a:xfrm>
            <a:off x="457200" y="1417320"/>
            <a:ext cx="4937400" cy="475200"/>
          </a:xfrm>
          <a:prstGeom prst="roundRect">
            <a:avLst>
              <a:gd name="adj" fmla="val 19231"/>
            </a:avLst>
          </a:prstGeom>
          <a:solidFill>
            <a:srgbClr val="f4f7fa"/>
          </a:solidFill>
          <a:ln w="12700">
            <a:solidFill>
              <a:srgbClr val="e1e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Shape 4"/>
          <p:cNvSpPr/>
          <p:nvPr/>
        </p:nvSpPr>
        <p:spPr>
          <a:xfrm>
            <a:off x="567000" y="1545480"/>
            <a:ext cx="219240" cy="2192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5"/>
          <p:cNvSpPr/>
          <p:nvPr/>
        </p:nvSpPr>
        <p:spPr>
          <a:xfrm>
            <a:off x="914400" y="1417320"/>
            <a:ext cx="438876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sz="1250" b="1">
                <a:solidFill>
                  <a:srgbClr val="0B2545"/>
                </a:solidFill>
                <a:latin typeface="Calibri"/>
              </a:rPr>
              <a:t>FLAURA2: Combination improved PFS and OS; it did not isolate the effect of maintenance pemetrexed</a:t>
            </a:r>
            <a:endParaRPr b="0" lang="en-US" sz="1250" spc="-1" strike="noStrike">
              <a:solidFill>
                <a:srgbClr val="000000"/>
              </a:solidFill>
              <a:latin typeface="Arial"/>
            </a:endParaRPr>
          </a:p>
        </p:txBody>
      </p:sp>
      <p:sp>
        <p:nvSpPr>
          <p:cNvPr id="80" name="Shape 6"/>
          <p:cNvSpPr/>
          <p:nvPr/>
        </p:nvSpPr>
        <p:spPr>
          <a:xfrm>
            <a:off x="457200" y="1984320"/>
            <a:ext cx="4937400" cy="475200"/>
          </a:xfrm>
          <a:prstGeom prst="roundRect">
            <a:avLst>
              <a:gd name="adj" fmla="val 19231"/>
            </a:avLst>
          </a:prstGeom>
          <a:solidFill>
            <a:srgbClr val="f4f7fa"/>
          </a:solidFill>
          <a:ln w="12700">
            <a:solidFill>
              <a:srgbClr val="e1e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Shape 7"/>
          <p:cNvSpPr/>
          <p:nvPr/>
        </p:nvSpPr>
        <p:spPr>
          <a:xfrm>
            <a:off x="567000" y="2112120"/>
            <a:ext cx="219240" cy="2192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2" name="Text 8"/>
          <p:cNvSpPr/>
          <p:nvPr/>
        </p:nvSpPr>
        <p:spPr>
          <a:xfrm>
            <a:off x="914400" y="1984320"/>
            <a:ext cx="438876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2545"/>
                </a:solidFill>
                <a:latin typeface="Calibri"/>
                <a:ea typeface="Calibri"/>
              </a:rPr>
              <a:t>PARAMOUNT:  </a:t>
            </a:r>
            <a:r>
              <a:rPr b="0" lang="en-US" sz="1250" spc="-1" strike="noStrike">
                <a:solidFill>
                  <a:srgbClr val="1f2d3d"/>
                </a:solidFill>
                <a:latin typeface="Calibri"/>
                <a:ea typeface="Calibri"/>
              </a:rPr>
              <a:t>Pemetrexed maintenance helps, but without an EGFR pill</a:t>
            </a:r>
            <a:endParaRPr b="0" lang="en-US" sz="1250" spc="-1" strike="noStrike">
              <a:solidFill>
                <a:srgbClr val="000000"/>
              </a:solidFill>
              <a:latin typeface="Arial"/>
            </a:endParaRPr>
          </a:p>
        </p:txBody>
      </p:sp>
      <p:sp>
        <p:nvSpPr>
          <p:cNvPr id="83" name="Shape 9"/>
          <p:cNvSpPr/>
          <p:nvPr/>
        </p:nvSpPr>
        <p:spPr>
          <a:xfrm>
            <a:off x="457200" y="2551320"/>
            <a:ext cx="4937400" cy="475200"/>
          </a:xfrm>
          <a:prstGeom prst="roundRect">
            <a:avLst>
              <a:gd name="adj" fmla="val 19231"/>
            </a:avLst>
          </a:prstGeom>
          <a:solidFill>
            <a:srgbClr val="f4f7fa"/>
          </a:solidFill>
          <a:ln w="12700">
            <a:solidFill>
              <a:srgbClr val="e1e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Shape 10"/>
          <p:cNvSpPr/>
          <p:nvPr/>
        </p:nvSpPr>
        <p:spPr>
          <a:xfrm>
            <a:off x="567000" y="2679120"/>
            <a:ext cx="219240" cy="2192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Text 11"/>
          <p:cNvSpPr/>
          <p:nvPr/>
        </p:nvSpPr>
        <p:spPr>
          <a:xfrm>
            <a:off x="914400" y="2551320"/>
            <a:ext cx="438876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2545"/>
                </a:solidFill>
                <a:latin typeface="Calibri"/>
                <a:ea typeface="Calibri"/>
              </a:rPr>
              <a:t>FLAME:  </a:t>
            </a:r>
            <a:r>
              <a:rPr b="0" lang="en-US" sz="1250" spc="-1" strike="noStrike">
                <a:solidFill>
                  <a:srgbClr val="1f2d3d"/>
                </a:solidFill>
                <a:latin typeface="Calibri"/>
                <a:ea typeface="Calibri"/>
              </a:rPr>
              <a:t>Persistent ctDNA: adding chemo helps (HR 0.53)</a:t>
            </a:r>
            <a:endParaRPr b="0" lang="en-US" sz="1250" spc="-1" strike="noStrike">
              <a:solidFill>
                <a:srgbClr val="000000"/>
              </a:solidFill>
              <a:latin typeface="Arial"/>
            </a:endParaRPr>
          </a:p>
        </p:txBody>
      </p:sp>
      <p:sp>
        <p:nvSpPr>
          <p:cNvPr id="86" name="Shape 12"/>
          <p:cNvSpPr/>
          <p:nvPr/>
        </p:nvSpPr>
        <p:spPr>
          <a:xfrm>
            <a:off x="457200" y="3117960"/>
            <a:ext cx="4937400" cy="475200"/>
          </a:xfrm>
          <a:prstGeom prst="roundRect">
            <a:avLst>
              <a:gd name="adj" fmla="val 19231"/>
            </a:avLst>
          </a:prstGeom>
          <a:solidFill>
            <a:srgbClr val="f4f7fa"/>
          </a:solidFill>
          <a:ln w="12700">
            <a:solidFill>
              <a:srgbClr val="e1e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Shape 13"/>
          <p:cNvSpPr/>
          <p:nvPr/>
        </p:nvSpPr>
        <p:spPr>
          <a:xfrm>
            <a:off x="567000" y="3246120"/>
            <a:ext cx="219240" cy="21924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 name="Text 14"/>
          <p:cNvSpPr/>
          <p:nvPr/>
        </p:nvSpPr>
        <p:spPr>
          <a:xfrm>
            <a:off x="914400" y="3117960"/>
            <a:ext cx="438876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2545"/>
                </a:solidFill>
                <a:latin typeface="Calibri"/>
                <a:ea typeface="Calibri"/>
              </a:rPr>
              <a:t>DYNAMIC (colon):  </a:t>
            </a:r>
            <a:r>
              <a:rPr b="0" lang="en-US" sz="1250" spc="-1" strike="noStrike">
                <a:solidFill>
                  <a:srgbClr val="1f2d3d"/>
                </a:solidFill>
                <a:latin typeface="Calibri"/>
                <a:ea typeface="Calibri"/>
              </a:rPr>
              <a:t>ctDNA-guided less chemo worked in stage II, not clearly in stage III</a:t>
            </a:r>
            <a:endParaRPr b="0" lang="en-US" sz="1250" spc="-1" strike="noStrike">
              <a:solidFill>
                <a:srgbClr val="000000"/>
              </a:solidFill>
              <a:latin typeface="Arial"/>
            </a:endParaRPr>
          </a:p>
        </p:txBody>
      </p:sp>
      <p:sp>
        <p:nvSpPr>
          <p:cNvPr id="89" name="Shape 15"/>
          <p:cNvSpPr/>
          <p:nvPr/>
        </p:nvSpPr>
        <p:spPr>
          <a:xfrm>
            <a:off x="457200" y="3684960"/>
            <a:ext cx="4937400" cy="475200"/>
          </a:xfrm>
          <a:prstGeom prst="roundRect">
            <a:avLst>
              <a:gd name="adj" fmla="val 19231"/>
            </a:avLst>
          </a:prstGeom>
          <a:solidFill>
            <a:srgbClr val="f4f7fa"/>
          </a:solidFill>
          <a:ln w="12700">
            <a:solidFill>
              <a:srgbClr val="e1e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Shape 16"/>
          <p:cNvSpPr/>
          <p:nvPr/>
        </p:nvSpPr>
        <p:spPr>
          <a:xfrm>
            <a:off x="567000" y="3813120"/>
            <a:ext cx="219240" cy="21924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 name="Text 17"/>
          <p:cNvSpPr/>
          <p:nvPr/>
        </p:nvSpPr>
        <p:spPr>
          <a:xfrm>
            <a:off x="914400" y="3684960"/>
            <a:ext cx="438876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2545"/>
                </a:solidFill>
                <a:latin typeface="Calibri"/>
                <a:ea typeface="Calibri"/>
              </a:rPr>
              <a:t>Dong et al. 2024:  </a:t>
            </a:r>
            <a:r>
              <a:rPr b="0" lang="en-US" sz="1250" spc="-1" strike="noStrike">
                <a:solidFill>
                  <a:srgbClr val="1f2d3d"/>
                </a:solidFill>
                <a:latin typeface="Calibri"/>
                <a:ea typeface="Calibri"/>
              </a:rPr>
              <a:t>Non-randomised ctDNA-guided de-escalation in lung cancer</a:t>
            </a:r>
            <a:endParaRPr b="0" lang="en-US" sz="1250" spc="-1" strike="noStrike">
              <a:solidFill>
                <a:srgbClr val="000000"/>
              </a:solidFill>
              <a:latin typeface="Arial"/>
            </a:endParaRPr>
          </a:p>
        </p:txBody>
      </p:sp>
      <p:sp>
        <p:nvSpPr>
          <p:cNvPr id="92" name="Shape 18"/>
          <p:cNvSpPr/>
          <p:nvPr/>
        </p:nvSpPr>
        <p:spPr>
          <a:xfrm>
            <a:off x="5669280" y="1417320"/>
            <a:ext cx="3017160" cy="2742840"/>
          </a:xfrm>
          <a:prstGeom prst="roundRect">
            <a:avLst>
              <a:gd name="adj" fmla="val 5000"/>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Shape 19"/>
          <p:cNvSpPr/>
          <p:nvPr/>
        </p:nvSpPr>
        <p:spPr>
          <a:xfrm>
            <a:off x="6720840" y="1600200"/>
            <a:ext cx="822600" cy="82260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4" name="Image 0" descr="preencoded.png"/>
          <p:cNvPicPr/>
          <p:nvPr/>
        </p:nvPicPr>
        <p:blipFill>
          <a:blip r:embed="rId1"/>
          <a:stretch/>
        </p:blipFill>
        <p:spPr>
          <a:xfrm>
            <a:off x="6926760" y="1806120"/>
            <a:ext cx="411120" cy="411120"/>
          </a:xfrm>
          <a:prstGeom prst="rect">
            <a:avLst/>
          </a:prstGeom>
          <a:ln w="0">
            <a:noFill/>
          </a:ln>
        </p:spPr>
      </p:pic>
      <p:sp>
        <p:nvSpPr>
          <p:cNvPr id="95" name="Text 20"/>
          <p:cNvSpPr/>
          <p:nvPr/>
        </p:nvSpPr>
        <p:spPr>
          <a:xfrm>
            <a:off x="5852160" y="2560320"/>
            <a:ext cx="265140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sz="2000" b="1">
                <a:solidFill>
                  <a:srgbClr val="FFFFFF"/>
                </a:solidFill>
                <a:latin typeface="Cambria"/>
              </a:rPr>
              <a:t>The research gap</a:t>
            </a:r>
            <a:endParaRPr b="0" lang="en-US" sz="2000" spc="-1" strike="noStrike">
              <a:solidFill>
                <a:srgbClr val="000000"/>
              </a:solidFill>
              <a:latin typeface="Arial"/>
            </a:endParaRPr>
          </a:p>
        </p:txBody>
      </p:sp>
      <p:sp>
        <p:nvSpPr>
          <p:cNvPr id="96" name="Text 21"/>
          <p:cNvSpPr/>
          <p:nvPr/>
        </p:nvSpPr>
        <p:spPr>
          <a:xfrm>
            <a:off x="5852160" y="2971800"/>
            <a:ext cx="2651400" cy="1096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dce8f2"/>
                </a:solidFill>
                <a:latin typeface="Calibri"/>
                <a:ea typeface="Calibri"/>
              </a:rPr>
              <a:t>No randomised trial has tested stopping pemetrexed after lasting EGFR ctDNA clearance.</a:t>
            </a:r>
            <a:endParaRPr b="0" lang="en-US" sz="1400" spc="-1" strike="noStrike">
              <a:solidFill>
                <a:srgbClr val="000000"/>
              </a:solidFill>
              <a:latin typeface="Arial"/>
            </a:endParaRPr>
          </a:p>
        </p:txBody>
      </p:sp>
      <p:sp>
        <p:nvSpPr>
          <p:cNvPr id="97" name="Text 22"/>
          <p:cNvSpPr/>
          <p:nvPr/>
        </p:nvSpPr>
        <p:spPr>
          <a:xfrm>
            <a:off x="457200" y="4343400"/>
            <a:ext cx="8229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5b6b7b"/>
                </a:solidFill>
                <a:latin typeface="Calibri"/>
                <a:ea typeface="Calibri"/>
              </a:rPr>
              <a:t>Teal = supports adding treatment   ·   Gold = de-escalation evidence so far</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545"/>
        </a:solidFill>
      </p:bgPr>
    </p:bg>
    <p:spTree>
      <p:nvGrpSpPr>
        <p:cNvPr id="1" name=""/>
        <p:cNvGrpSpPr/>
        <p:nvPr/>
      </p:nvGrpSpPr>
      <p:grpSpPr>
        <a:xfrm>
          <a:off x="0" y="0"/>
          <a:ext cx="0" cy="0"/>
          <a:chOff x="0" y="0"/>
          <a:chExt cx="0" cy="0"/>
        </a:xfrm>
      </p:grpSpPr>
      <p:sp>
        <p:nvSpPr>
          <p:cNvPr id="98"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mbria"/>
                <a:ea typeface="Cambria"/>
              </a:rPr>
              <a:t>The research question</a:t>
            </a:r>
            <a:endParaRPr b="0" lang="en-US" sz="3200" spc="-1" strike="noStrike">
              <a:solidFill>
                <a:srgbClr val="ffffff"/>
              </a:solidFill>
              <a:latin typeface="Arial"/>
            </a:endParaRPr>
          </a:p>
        </p:txBody>
      </p:sp>
      <p:sp>
        <p:nvSpPr>
          <p:cNvPr id="99"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9fb3c8"/>
                </a:solidFill>
                <a:latin typeface="Calibri"/>
                <a:ea typeface="Calibri"/>
              </a:rPr>
              <a:t>6</a:t>
            </a:r>
            <a:endParaRPr b="0" lang="en-US" sz="1000" spc="-1" strike="noStrike">
              <a:solidFill>
                <a:srgbClr val="ffffff"/>
              </a:solidFill>
              <a:latin typeface="Arial"/>
            </a:endParaRPr>
          </a:p>
        </p:txBody>
      </p:sp>
      <p:sp>
        <p:nvSpPr>
          <p:cNvPr id="100" name="Text 2"/>
          <p:cNvSpPr/>
          <p:nvPr/>
        </p:nvSpPr>
        <p:spPr>
          <a:xfrm>
            <a:off x="457200" y="1097280"/>
            <a:ext cx="822924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2200" spc="-1" strike="noStrike">
                <a:solidFill>
                  <a:srgbClr val="ffffff"/>
                </a:solidFill>
                <a:latin typeface="Cambria"/>
                <a:ea typeface="Cambria"/>
              </a:rPr>
              <a:t>Does stopping pemetrexed maintenance, after induction with osimertinib + platinum–pemetrexed and clear ctDNA, keep patients just as free from progression?</a:t>
            </a:r>
            <a:endParaRPr b="0" lang="en-US" sz="2200" spc="-1" strike="noStrike">
              <a:solidFill>
                <a:srgbClr val="ffffff"/>
              </a:solidFill>
              <a:latin typeface="Arial"/>
            </a:endParaRPr>
          </a:p>
        </p:txBody>
      </p:sp>
      <p:sp>
        <p:nvSpPr>
          <p:cNvPr id="101" name="Shape 3"/>
          <p:cNvSpPr/>
          <p:nvPr/>
        </p:nvSpPr>
        <p:spPr>
          <a:xfrm>
            <a:off x="457200" y="2423160"/>
            <a:ext cx="4023000" cy="2102760"/>
          </a:xfrm>
          <a:prstGeom prst="roundRect">
            <a:avLst>
              <a:gd name="adj" fmla="val 5217"/>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 name="Text 4"/>
          <p:cNvSpPr/>
          <p:nvPr/>
        </p:nvSpPr>
        <p:spPr>
          <a:xfrm>
            <a:off x="640080" y="2514600"/>
            <a:ext cx="36572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2b134"/>
                </a:solidFill>
                <a:latin typeface="Cambria"/>
                <a:ea typeface="Cambria"/>
              </a:rPr>
              <a:t>What "non-inferior" means</a:t>
            </a:r>
            <a:endParaRPr b="0" lang="en-US" sz="1700" spc="-1" strike="noStrike">
              <a:solidFill>
                <a:srgbClr val="ffffff"/>
              </a:solidFill>
              <a:latin typeface="Arial"/>
            </a:endParaRPr>
          </a:p>
        </p:txBody>
      </p:sp>
      <p:sp>
        <p:nvSpPr>
          <p:cNvPr id="103" name="Text 5"/>
          <p:cNvSpPr/>
          <p:nvPr/>
        </p:nvSpPr>
        <p:spPr>
          <a:xfrm>
            <a:off x="640080" y="2880360"/>
            <a:ext cx="3657240" cy="1554120"/>
          </a:xfrm>
          <a:prstGeom prst="rect">
            <a:avLst/>
          </a:prstGeom>
          <a:noFill/>
          <a:ln w="0">
            <a:noFill/>
          </a:ln>
        </p:spPr>
        <p:style>
          <a:lnRef idx="0"/>
          <a:fillRef idx="0"/>
          <a:effectRef idx="0"/>
          <a:fontRef idx="minor"/>
        </p:style>
        <p:txBody>
          <a:bodyPr lIns="101600" rIns="101600" tIns="76200" bIns="50800" anchor="t" wrap="square">
            <a:noAutofit/>
          </a:bodyPr>
          <a:p>
            <a:pPr defTabSz="914400">
              <a:lnSpc>
                <a:spcPct val="100000"/>
              </a:lnSpc>
              <a:tabLst>
                <a:tab algn="l" pos="0"/>
              </a:tabLst>
            </a:pPr>
            <a:r>
              <a:rPr sz="1050">
                <a:solidFill>
                  <a:srgbClr val="EBF0F5"/>
                </a:solidFill>
                <a:latin typeface="Aptos"/>
              </a:rPr>
              <a:t>Stopping does not have to be better. It must not be worse than continuing by more than the pre-set margin. Meeting this statistical threshold would not prove the treatments are identical.</a:t>
            </a:r>
            <a:endParaRPr b="0" lang="en-US" sz="1400" spc="-1" strike="noStrike">
              <a:solidFill>
                <a:srgbClr val="ffffff"/>
              </a:solidFill>
              <a:latin typeface="Arial"/>
            </a:endParaRPr>
          </a:p>
        </p:txBody>
      </p:sp>
      <p:sp>
        <p:nvSpPr>
          <p:cNvPr id="104" name="Shape 6"/>
          <p:cNvSpPr/>
          <p:nvPr/>
        </p:nvSpPr>
        <p:spPr>
          <a:xfrm>
            <a:off x="4663440" y="2423160"/>
            <a:ext cx="4023000" cy="2102760"/>
          </a:xfrm>
          <a:prstGeom prst="roundRect">
            <a:avLst>
              <a:gd name="adj" fmla="val 5217"/>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 name="Text 7"/>
          <p:cNvSpPr/>
          <p:nvPr/>
        </p:nvSpPr>
        <p:spPr>
          <a:xfrm>
            <a:off x="4846320" y="2514600"/>
            <a:ext cx="36572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2b134"/>
                </a:solidFill>
                <a:latin typeface="Cambria"/>
                <a:ea typeface="Cambria"/>
              </a:rPr>
              <a:t>The pass mark</a:t>
            </a:r>
            <a:endParaRPr b="0" lang="en-US" sz="1700" spc="-1" strike="noStrike">
              <a:solidFill>
                <a:srgbClr val="ffffff"/>
              </a:solidFill>
              <a:latin typeface="Arial"/>
            </a:endParaRPr>
          </a:p>
        </p:txBody>
      </p:sp>
      <p:sp>
        <p:nvSpPr>
          <p:cNvPr id="106" name="Text 8"/>
          <p:cNvSpPr/>
          <p:nvPr/>
        </p:nvSpPr>
        <p:spPr>
          <a:xfrm>
            <a:off x="4846320" y="2880360"/>
            <a:ext cx="3657240" cy="1554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ffffff"/>
                </a:solidFill>
                <a:latin typeface="Calibri"/>
                <a:ea typeface="Calibri"/>
              </a:rPr>
              <a:t>Hazard ratio (stop vs continue) upper limit must stay below 1.40 (one-sided 90% CI, α = 0.10).</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Three aims</a:t>
            </a:r>
            <a:endParaRPr b="0" lang="en-US" sz="3200" spc="-1" strike="noStrike">
              <a:solidFill>
                <a:srgbClr val="000000"/>
              </a:solidFill>
              <a:latin typeface="Arial"/>
            </a:endParaRPr>
          </a:p>
        </p:txBody>
      </p:sp>
      <p:sp>
        <p:nvSpPr>
          <p:cNvPr id="108"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7</a:t>
            </a:r>
            <a:endParaRPr b="0" lang="en-US" sz="1000" spc="-1" strike="noStrike">
              <a:solidFill>
                <a:srgbClr val="000000"/>
              </a:solidFill>
              <a:latin typeface="Arial"/>
            </a:endParaRPr>
          </a:p>
        </p:txBody>
      </p:sp>
      <p:sp>
        <p:nvSpPr>
          <p:cNvPr id="109" name="Shape 2"/>
          <p:cNvSpPr/>
          <p:nvPr/>
        </p:nvSpPr>
        <p:spPr>
          <a:xfrm>
            <a:off x="457200" y="1188720"/>
            <a:ext cx="2651400" cy="3291480"/>
          </a:xfrm>
          <a:prstGeom prst="roundRect">
            <a:avLst>
              <a:gd name="adj" fmla="val 4138"/>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 name="Shape 3"/>
          <p:cNvSpPr/>
          <p:nvPr/>
        </p:nvSpPr>
        <p:spPr>
          <a:xfrm>
            <a:off x="640080" y="1371600"/>
            <a:ext cx="822600" cy="8226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11" name="Image 0" descr="preencoded.png"/>
          <p:cNvPicPr/>
          <p:nvPr/>
        </p:nvPicPr>
        <p:blipFill>
          <a:blip r:embed="rId1"/>
          <a:stretch/>
        </p:blipFill>
        <p:spPr>
          <a:xfrm>
            <a:off x="846000" y="1577520"/>
            <a:ext cx="411120" cy="411120"/>
          </a:xfrm>
          <a:prstGeom prst="rect">
            <a:avLst/>
          </a:prstGeom>
          <a:ln w="0">
            <a:noFill/>
          </a:ln>
        </p:spPr>
      </p:pic>
      <p:sp>
        <p:nvSpPr>
          <p:cNvPr id="112" name="Text 4"/>
          <p:cNvSpPr/>
          <p:nvPr/>
        </p:nvSpPr>
        <p:spPr>
          <a:xfrm>
            <a:off x="1600200" y="148140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f8b8d"/>
                </a:solidFill>
                <a:latin typeface="Cambria"/>
                <a:ea typeface="Cambria"/>
              </a:rPr>
              <a:t>Aim 1</a:t>
            </a:r>
            <a:endParaRPr b="0" lang="en-US" sz="2400" spc="-1" strike="noStrike">
              <a:solidFill>
                <a:srgbClr val="000000"/>
              </a:solidFill>
              <a:latin typeface="Arial"/>
            </a:endParaRPr>
          </a:p>
        </p:txBody>
      </p:sp>
      <p:sp>
        <p:nvSpPr>
          <p:cNvPr id="113" name="Text 5"/>
          <p:cNvSpPr/>
          <p:nvPr/>
        </p:nvSpPr>
        <p:spPr>
          <a:xfrm>
            <a:off x="640080" y="2423160"/>
            <a:ext cx="228564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rgbClr val="0b2545"/>
                </a:solidFill>
                <a:latin typeface="Calibri"/>
                <a:ea typeface="Calibri"/>
              </a:rPr>
              <a:t>Can we stop pemetrexed once ctDNA clears?</a:t>
            </a:r>
            <a:endParaRPr b="0" lang="en-US" sz="1600" spc="-1" strike="noStrike">
              <a:solidFill>
                <a:srgbClr val="000000"/>
              </a:solidFill>
              <a:latin typeface="Arial"/>
            </a:endParaRPr>
          </a:p>
        </p:txBody>
      </p:sp>
      <p:sp>
        <p:nvSpPr>
          <p:cNvPr id="114" name="Text 6"/>
          <p:cNvSpPr/>
          <p:nvPr/>
        </p:nvSpPr>
        <p:spPr>
          <a:xfrm>
            <a:off x="640080" y="3246120"/>
            <a:ext cx="22856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Main comparison of progression-free survival between the two groups.</a:t>
            </a:r>
            <a:endParaRPr b="0" lang="en-US" sz="1350" spc="-1" strike="noStrike">
              <a:solidFill>
                <a:srgbClr val="000000"/>
              </a:solidFill>
              <a:latin typeface="Arial"/>
            </a:endParaRPr>
          </a:p>
        </p:txBody>
      </p:sp>
      <p:sp>
        <p:nvSpPr>
          <p:cNvPr id="115" name="Shape 7"/>
          <p:cNvSpPr/>
          <p:nvPr/>
        </p:nvSpPr>
        <p:spPr>
          <a:xfrm>
            <a:off x="3291840" y="1188720"/>
            <a:ext cx="2651400" cy="3291480"/>
          </a:xfrm>
          <a:prstGeom prst="roundRect">
            <a:avLst>
              <a:gd name="adj" fmla="val 4138"/>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 name="Shape 8"/>
          <p:cNvSpPr/>
          <p:nvPr/>
        </p:nvSpPr>
        <p:spPr>
          <a:xfrm>
            <a:off x="3474720" y="1371600"/>
            <a:ext cx="822600" cy="82260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17" name="Image 1" descr="preencoded.png"/>
          <p:cNvPicPr/>
          <p:nvPr/>
        </p:nvPicPr>
        <p:blipFill>
          <a:blip r:embed="rId2"/>
          <a:stretch/>
        </p:blipFill>
        <p:spPr>
          <a:xfrm>
            <a:off x="3680640" y="1577520"/>
            <a:ext cx="411120" cy="411120"/>
          </a:xfrm>
          <a:prstGeom prst="rect">
            <a:avLst/>
          </a:prstGeom>
          <a:ln w="0">
            <a:noFill/>
          </a:ln>
        </p:spPr>
      </p:pic>
      <p:sp>
        <p:nvSpPr>
          <p:cNvPr id="118" name="Text 9"/>
          <p:cNvSpPr/>
          <p:nvPr/>
        </p:nvSpPr>
        <p:spPr>
          <a:xfrm>
            <a:off x="4434840" y="148140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ee6055"/>
                </a:solidFill>
                <a:latin typeface="Cambria"/>
                <a:ea typeface="Cambria"/>
              </a:rPr>
              <a:t>Aim 2</a:t>
            </a:r>
            <a:endParaRPr b="0" lang="en-US" sz="2400" spc="-1" strike="noStrike">
              <a:solidFill>
                <a:srgbClr val="000000"/>
              </a:solidFill>
              <a:latin typeface="Arial"/>
            </a:endParaRPr>
          </a:p>
        </p:txBody>
      </p:sp>
      <p:sp>
        <p:nvSpPr>
          <p:cNvPr id="119" name="Text 10"/>
          <p:cNvSpPr/>
          <p:nvPr/>
        </p:nvSpPr>
        <p:spPr>
          <a:xfrm>
            <a:off x="3474720" y="2423160"/>
            <a:ext cx="228564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rgbClr val="0b2545"/>
                </a:solidFill>
                <a:latin typeface="Calibri"/>
                <a:ea typeface="Calibri"/>
              </a:rPr>
              <a:t>Does stopping help patients feel better?</a:t>
            </a:r>
            <a:endParaRPr b="0" lang="en-US" sz="1600" spc="-1" strike="noStrike">
              <a:solidFill>
                <a:srgbClr val="000000"/>
              </a:solidFill>
              <a:latin typeface="Arial"/>
            </a:endParaRPr>
          </a:p>
        </p:txBody>
      </p:sp>
      <p:sp>
        <p:nvSpPr>
          <p:cNvPr id="120" name="Text 11"/>
          <p:cNvSpPr/>
          <p:nvPr/>
        </p:nvSpPr>
        <p:spPr>
          <a:xfrm>
            <a:off x="3474720" y="3246120"/>
            <a:ext cx="22856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Fewer serious side effects and better quality of life, without losing disease control.</a:t>
            </a:r>
            <a:endParaRPr b="0" lang="en-US" sz="1350" spc="-1" strike="noStrike">
              <a:solidFill>
                <a:srgbClr val="000000"/>
              </a:solidFill>
              <a:latin typeface="Arial"/>
            </a:endParaRPr>
          </a:p>
        </p:txBody>
      </p:sp>
      <p:sp>
        <p:nvSpPr>
          <p:cNvPr id="121" name="Shape 12"/>
          <p:cNvSpPr/>
          <p:nvPr/>
        </p:nvSpPr>
        <p:spPr>
          <a:xfrm>
            <a:off x="6126480" y="1188720"/>
            <a:ext cx="2651400" cy="3291480"/>
          </a:xfrm>
          <a:prstGeom prst="roundRect">
            <a:avLst>
              <a:gd name="adj" fmla="val 4138"/>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2" name="Shape 13"/>
          <p:cNvSpPr/>
          <p:nvPr/>
        </p:nvSpPr>
        <p:spPr>
          <a:xfrm>
            <a:off x="6309360" y="1371600"/>
            <a:ext cx="822600" cy="822600"/>
          </a:xfrm>
          <a:prstGeom prst="ellipse">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23" name="Image 2" descr="preencoded.png"/>
          <p:cNvPicPr/>
          <p:nvPr/>
        </p:nvPicPr>
        <p:blipFill>
          <a:blip r:embed="rId3"/>
          <a:stretch/>
        </p:blipFill>
        <p:spPr>
          <a:xfrm>
            <a:off x="6515280" y="1577520"/>
            <a:ext cx="411120" cy="411120"/>
          </a:xfrm>
          <a:prstGeom prst="rect">
            <a:avLst/>
          </a:prstGeom>
          <a:ln w="0">
            <a:noFill/>
          </a:ln>
        </p:spPr>
      </p:pic>
      <p:sp>
        <p:nvSpPr>
          <p:cNvPr id="124" name="Text 14"/>
          <p:cNvSpPr/>
          <p:nvPr/>
        </p:nvSpPr>
        <p:spPr>
          <a:xfrm>
            <a:off x="7269480" y="148140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b2545"/>
                </a:solidFill>
                <a:latin typeface="Cambria"/>
                <a:ea typeface="Cambria"/>
              </a:rPr>
              <a:t>Aim 3</a:t>
            </a:r>
            <a:endParaRPr b="0" lang="en-US" sz="2400" spc="-1" strike="noStrike">
              <a:solidFill>
                <a:srgbClr val="000000"/>
              </a:solidFill>
              <a:latin typeface="Arial"/>
            </a:endParaRPr>
          </a:p>
        </p:txBody>
      </p:sp>
      <p:sp>
        <p:nvSpPr>
          <p:cNvPr id="125" name="Text 15"/>
          <p:cNvSpPr/>
          <p:nvPr/>
        </p:nvSpPr>
        <p:spPr>
          <a:xfrm>
            <a:off x="6309360" y="2423160"/>
            <a:ext cx="228564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rgbClr val="0b2545"/>
                </a:solidFill>
                <a:latin typeface="Calibri"/>
                <a:ea typeface="Calibri"/>
              </a:rPr>
              <a:t>Can AI spot who benefits most?</a:t>
            </a:r>
            <a:endParaRPr b="0" lang="en-US" sz="1600" spc="-1" strike="noStrike">
              <a:solidFill>
                <a:srgbClr val="000000"/>
              </a:solidFill>
              <a:latin typeface="Arial"/>
            </a:endParaRPr>
          </a:p>
        </p:txBody>
      </p:sp>
      <p:sp>
        <p:nvSpPr>
          <p:cNvPr id="126" name="Text 16"/>
          <p:cNvSpPr/>
          <p:nvPr/>
        </p:nvSpPr>
        <p:spPr>
          <a:xfrm>
            <a:off x="6309360" y="3246120"/>
            <a:ext cx="22856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Exploratory: does the benefit of continuing differ by patient or ctDNA pattern?</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How the trial works</a:t>
            </a:r>
            <a:endParaRPr b="0" lang="en-US" sz="3200" spc="-1" strike="noStrike">
              <a:solidFill>
                <a:srgbClr val="000000"/>
              </a:solidFill>
              <a:latin typeface="Arial"/>
            </a:endParaRPr>
          </a:p>
        </p:txBody>
      </p:sp>
      <p:sp>
        <p:nvSpPr>
          <p:cNvPr id="128"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0f8b8d"/>
                </a:solidFill>
                <a:latin typeface="Calibri"/>
                <a:ea typeface="Calibri"/>
              </a:rPr>
              <a:t>Multicentre, open-label, randomised phase II non-inferiority trial</a:t>
            </a:r>
            <a:endParaRPr b="0" lang="en-US" sz="1600" spc="-1" strike="noStrike">
              <a:solidFill>
                <a:srgbClr val="000000"/>
              </a:solidFill>
              <a:latin typeface="Arial"/>
            </a:endParaRPr>
          </a:p>
        </p:txBody>
      </p:sp>
      <p:sp>
        <p:nvSpPr>
          <p:cNvPr id="129"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8</a:t>
            </a:r>
            <a:endParaRPr b="0" lang="en-US" sz="1000" spc="-1" strike="noStrike">
              <a:solidFill>
                <a:srgbClr val="000000"/>
              </a:solidFill>
              <a:latin typeface="Arial"/>
            </a:endParaRPr>
          </a:p>
        </p:txBody>
      </p:sp>
      <p:sp>
        <p:nvSpPr>
          <p:cNvPr id="130" name="Shape 3"/>
          <p:cNvSpPr/>
          <p:nvPr/>
        </p:nvSpPr>
        <p:spPr>
          <a:xfrm>
            <a:off x="457200" y="1463040"/>
            <a:ext cx="1828440" cy="502560"/>
          </a:xfrm>
          <a:prstGeom prst="roundRect">
            <a:avLst>
              <a:gd name="adj" fmla="val 18182"/>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Text 4"/>
          <p:cNvSpPr/>
          <p:nvPr/>
        </p:nvSpPr>
        <p:spPr>
          <a:xfrm>
            <a:off x="457200" y="14630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1. Enrol</a:t>
            </a:r>
            <a:endParaRPr b="0" lang="en-US" sz="1500" spc="-1" strike="noStrike">
              <a:solidFill>
                <a:srgbClr val="000000"/>
              </a:solidFill>
              <a:latin typeface="Arial"/>
            </a:endParaRPr>
          </a:p>
        </p:txBody>
      </p:sp>
      <p:sp>
        <p:nvSpPr>
          <p:cNvPr id="132" name="Text 5"/>
          <p:cNvSpPr/>
          <p:nvPr/>
        </p:nvSpPr>
        <p:spPr>
          <a:xfrm>
            <a:off x="457200" y="2057400"/>
            <a:ext cx="1828440" cy="100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50" spc="-1" strike="noStrike">
                <a:solidFill>
                  <a:srgbClr val="1f2d3d"/>
                </a:solidFill>
                <a:latin typeface="Calibri"/>
                <a:ea typeface="Calibri"/>
              </a:rPr>
              <a:t>~470 adults with untreated EGFR-mutated NSCLC and detectable ctDNA</a:t>
            </a:r>
            <a:endParaRPr b="0" lang="en-US" sz="1250" spc="-1" strike="noStrike">
              <a:solidFill>
                <a:srgbClr val="000000"/>
              </a:solidFill>
              <a:latin typeface="Arial"/>
            </a:endParaRPr>
          </a:p>
        </p:txBody>
      </p:sp>
      <p:sp>
        <p:nvSpPr>
          <p:cNvPr id="133" name="Text 6"/>
          <p:cNvSpPr/>
          <p:nvPr/>
        </p:nvSpPr>
        <p:spPr>
          <a:xfrm>
            <a:off x="2240280" y="1417320"/>
            <a:ext cx="36540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b8c4ce"/>
                </a:solidFill>
                <a:latin typeface="Calibri"/>
                <a:ea typeface="Calibri"/>
              </a:rPr>
              <a:t>›</a:t>
            </a:r>
            <a:endParaRPr b="0" lang="en-US" sz="2800" spc="-1" strike="noStrike">
              <a:solidFill>
                <a:srgbClr val="000000"/>
              </a:solidFill>
              <a:latin typeface="Arial"/>
            </a:endParaRPr>
          </a:p>
        </p:txBody>
      </p:sp>
      <p:sp>
        <p:nvSpPr>
          <p:cNvPr id="134" name="Shape 7"/>
          <p:cNvSpPr/>
          <p:nvPr/>
        </p:nvSpPr>
        <p:spPr>
          <a:xfrm>
            <a:off x="2560320" y="1463040"/>
            <a:ext cx="1828440" cy="502560"/>
          </a:xfrm>
          <a:prstGeom prst="roundRect">
            <a:avLst>
              <a:gd name="adj" fmla="val 18182"/>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Text 8"/>
          <p:cNvSpPr/>
          <p:nvPr/>
        </p:nvSpPr>
        <p:spPr>
          <a:xfrm>
            <a:off x="2560320" y="14630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2. Induction</a:t>
            </a:r>
            <a:endParaRPr b="0" lang="en-US" sz="1500" spc="-1" strike="noStrike">
              <a:solidFill>
                <a:srgbClr val="000000"/>
              </a:solidFill>
              <a:latin typeface="Arial"/>
            </a:endParaRPr>
          </a:p>
        </p:txBody>
      </p:sp>
      <p:sp>
        <p:nvSpPr>
          <p:cNvPr id="136" name="Text 9"/>
          <p:cNvSpPr/>
          <p:nvPr/>
        </p:nvSpPr>
        <p:spPr>
          <a:xfrm>
            <a:off x="2560320" y="2057400"/>
            <a:ext cx="1828440" cy="100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50" spc="-1" strike="noStrike">
                <a:solidFill>
                  <a:srgbClr val="1f2d3d"/>
                </a:solidFill>
                <a:latin typeface="Calibri"/>
                <a:ea typeface="Calibri"/>
              </a:rPr>
              <a:t>4 × 3-week cycles of osimertinib + platinum–pemetrexed</a:t>
            </a:r>
            <a:endParaRPr b="0" lang="en-US" sz="1250" spc="-1" strike="noStrike">
              <a:solidFill>
                <a:srgbClr val="000000"/>
              </a:solidFill>
              <a:latin typeface="Arial"/>
            </a:endParaRPr>
          </a:p>
        </p:txBody>
      </p:sp>
      <p:sp>
        <p:nvSpPr>
          <p:cNvPr id="137" name="Text 10"/>
          <p:cNvSpPr/>
          <p:nvPr/>
        </p:nvSpPr>
        <p:spPr>
          <a:xfrm>
            <a:off x="4343400" y="1417320"/>
            <a:ext cx="36540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b8c4ce"/>
                </a:solidFill>
                <a:latin typeface="Calibri"/>
                <a:ea typeface="Calibri"/>
              </a:rPr>
              <a:t>›</a:t>
            </a:r>
            <a:endParaRPr b="0" lang="en-US" sz="2800" spc="-1" strike="noStrike">
              <a:solidFill>
                <a:srgbClr val="000000"/>
              </a:solidFill>
              <a:latin typeface="Arial"/>
            </a:endParaRPr>
          </a:p>
        </p:txBody>
      </p:sp>
      <p:sp>
        <p:nvSpPr>
          <p:cNvPr id="138" name="Shape 11"/>
          <p:cNvSpPr/>
          <p:nvPr/>
        </p:nvSpPr>
        <p:spPr>
          <a:xfrm>
            <a:off x="4663440" y="1463040"/>
            <a:ext cx="1828440" cy="502560"/>
          </a:xfrm>
          <a:prstGeom prst="roundRect">
            <a:avLst>
              <a:gd name="adj" fmla="val 18182"/>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9" name="Text 12"/>
          <p:cNvSpPr/>
          <p:nvPr/>
        </p:nvSpPr>
        <p:spPr>
          <a:xfrm>
            <a:off x="4663440" y="14630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0b2545"/>
                </a:solidFill>
                <a:latin typeface="Cambria"/>
                <a:ea typeface="Cambria"/>
              </a:rPr>
              <a:t>3. Checkpoint</a:t>
            </a:r>
            <a:endParaRPr b="0" lang="en-US" sz="1500" spc="-1" strike="noStrike">
              <a:solidFill>
                <a:srgbClr val="000000"/>
              </a:solidFill>
              <a:latin typeface="Arial"/>
            </a:endParaRPr>
          </a:p>
        </p:txBody>
      </p:sp>
      <p:sp>
        <p:nvSpPr>
          <p:cNvPr id="140" name="Text 13"/>
          <p:cNvSpPr/>
          <p:nvPr/>
        </p:nvSpPr>
        <p:spPr>
          <a:xfrm>
            <a:off x="4663440" y="2057400"/>
            <a:ext cx="1828440" cy="100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50" spc="-1" strike="noStrike">
                <a:solidFill>
                  <a:srgbClr val="1f2d3d"/>
                </a:solidFill>
                <a:latin typeface="Calibri"/>
                <a:ea typeface="Calibri"/>
              </a:rPr>
              <a:t>ctDNA undetectable at weeks 6 and 12, and no CT progression</a:t>
            </a:r>
            <a:endParaRPr b="0" lang="en-US" sz="1250" spc="-1" strike="noStrike">
              <a:solidFill>
                <a:srgbClr val="000000"/>
              </a:solidFill>
              <a:latin typeface="Arial"/>
            </a:endParaRPr>
          </a:p>
        </p:txBody>
      </p:sp>
      <p:sp>
        <p:nvSpPr>
          <p:cNvPr id="141" name="Text 14"/>
          <p:cNvSpPr/>
          <p:nvPr/>
        </p:nvSpPr>
        <p:spPr>
          <a:xfrm>
            <a:off x="6446520" y="1417320"/>
            <a:ext cx="36540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800" spc="-1" strike="noStrike">
                <a:solidFill>
                  <a:srgbClr val="b8c4ce"/>
                </a:solidFill>
                <a:latin typeface="Calibri"/>
                <a:ea typeface="Calibri"/>
              </a:rPr>
              <a:t>›</a:t>
            </a:r>
            <a:endParaRPr b="0" lang="en-US" sz="2800" spc="-1" strike="noStrike">
              <a:solidFill>
                <a:srgbClr val="000000"/>
              </a:solidFill>
              <a:latin typeface="Arial"/>
            </a:endParaRPr>
          </a:p>
        </p:txBody>
      </p:sp>
      <p:sp>
        <p:nvSpPr>
          <p:cNvPr id="142" name="Shape 15"/>
          <p:cNvSpPr/>
          <p:nvPr/>
        </p:nvSpPr>
        <p:spPr>
          <a:xfrm>
            <a:off x="6766560" y="1463040"/>
            <a:ext cx="1828440" cy="502560"/>
          </a:xfrm>
          <a:prstGeom prst="roundRect">
            <a:avLst>
              <a:gd name="adj" fmla="val 18182"/>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Text 16"/>
          <p:cNvSpPr/>
          <p:nvPr/>
        </p:nvSpPr>
        <p:spPr>
          <a:xfrm>
            <a:off x="6766560" y="146304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4. Randomise 1:1</a:t>
            </a:r>
            <a:endParaRPr b="0" lang="en-US" sz="1500" spc="-1" strike="noStrike">
              <a:solidFill>
                <a:srgbClr val="000000"/>
              </a:solidFill>
              <a:latin typeface="Arial"/>
            </a:endParaRPr>
          </a:p>
        </p:txBody>
      </p:sp>
      <p:sp>
        <p:nvSpPr>
          <p:cNvPr id="144" name="Text 17"/>
          <p:cNvSpPr/>
          <p:nvPr/>
        </p:nvSpPr>
        <p:spPr>
          <a:xfrm>
            <a:off x="6766560" y="2057400"/>
            <a:ext cx="1828440" cy="100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50" spc="-1" strike="noStrike">
                <a:solidFill>
                  <a:srgbClr val="1f2d3d"/>
                </a:solidFill>
                <a:latin typeface="Calibri"/>
                <a:ea typeface="Calibri"/>
              </a:rPr>
              <a:t>~280 eligible patients are split into two groups</a:t>
            </a:r>
            <a:endParaRPr b="0" lang="en-US" sz="1250" spc="-1" strike="noStrike">
              <a:solidFill>
                <a:srgbClr val="000000"/>
              </a:solidFill>
              <a:latin typeface="Arial"/>
            </a:endParaRPr>
          </a:p>
        </p:txBody>
      </p:sp>
      <p:sp>
        <p:nvSpPr>
          <p:cNvPr id="145" name="Shape 18"/>
          <p:cNvSpPr/>
          <p:nvPr/>
        </p:nvSpPr>
        <p:spPr>
          <a:xfrm>
            <a:off x="2743200" y="3246120"/>
            <a:ext cx="2742840" cy="1234080"/>
          </a:xfrm>
          <a:prstGeom prst="roundRect">
            <a:avLst>
              <a:gd name="adj" fmla="val 8889"/>
            </a:avLst>
          </a:prstGeom>
          <a:solidFill>
            <a:srgbClr val="ddf2f0"/>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 name="Shape 19"/>
          <p:cNvSpPr/>
          <p:nvPr/>
        </p:nvSpPr>
        <p:spPr>
          <a:xfrm>
            <a:off x="5943600" y="3246120"/>
            <a:ext cx="2742840" cy="1234080"/>
          </a:xfrm>
          <a:prstGeom prst="roundRect">
            <a:avLst>
              <a:gd name="adj" fmla="val 8889"/>
            </a:avLst>
          </a:prstGeom>
          <a:solidFill>
            <a:srgbClr val="fde9e7"/>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7" name="Text 20"/>
          <p:cNvSpPr/>
          <p:nvPr/>
        </p:nvSpPr>
        <p:spPr>
          <a:xfrm>
            <a:off x="2880360" y="3310200"/>
            <a:ext cx="246852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500" spc="-1" strike="noStrike">
                <a:solidFill>
                  <a:srgbClr val="0f8b8d"/>
                </a:solidFill>
                <a:latin typeface="Cambria"/>
                <a:ea typeface="Cambria"/>
              </a:rPr>
              <a:t>Group A: CONTINUE</a:t>
            </a:r>
            <a:endParaRPr b="0" lang="en-US" sz="1500" spc="-1" strike="noStrike">
              <a:solidFill>
                <a:srgbClr val="000000"/>
              </a:solidFill>
              <a:latin typeface="Arial"/>
            </a:endParaRPr>
          </a:p>
        </p:txBody>
      </p:sp>
      <p:sp>
        <p:nvSpPr>
          <p:cNvPr id="148" name="Text 21"/>
          <p:cNvSpPr/>
          <p:nvPr/>
        </p:nvSpPr>
        <p:spPr>
          <a:xfrm>
            <a:off x="2880360" y="3657600"/>
            <a:ext cx="24685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Osimertinib + pemetrexed</a:t>
            </a:r>
            <a:endParaRPr b="0" lang="en-US" sz="1400" spc="-1" strike="noStrike">
              <a:solidFill>
                <a:srgbClr val="000000"/>
              </a:solidFill>
              <a:latin typeface="Arial"/>
            </a:endParaRPr>
          </a:p>
          <a:p>
            <a:pPr algn="ctr" defTabSz="914400">
              <a:lnSpc>
                <a:spcPct val="100000"/>
              </a:lnSpc>
              <a:tabLst>
                <a:tab algn="l" pos="0"/>
              </a:tabLst>
            </a:pPr>
            <a:r>
              <a:rPr b="0" lang="en-US" sz="1200" spc="-1" strike="noStrike">
                <a:solidFill>
                  <a:srgbClr val="1f2d3d"/>
                </a:solidFill>
                <a:latin typeface="Calibri"/>
                <a:ea typeface="Calibri"/>
              </a:rPr>
              <a:t>Chemo continues every 3 weeks until progression</a:t>
            </a:r>
            <a:endParaRPr b="0" lang="en-US" sz="1400" spc="-1" strike="noStrike">
              <a:solidFill>
                <a:srgbClr val="000000"/>
              </a:solidFill>
              <a:latin typeface="Arial"/>
            </a:endParaRPr>
          </a:p>
        </p:txBody>
      </p:sp>
      <p:sp>
        <p:nvSpPr>
          <p:cNvPr id="149" name="Text 22"/>
          <p:cNvSpPr/>
          <p:nvPr/>
        </p:nvSpPr>
        <p:spPr>
          <a:xfrm>
            <a:off x="6080760" y="3310200"/>
            <a:ext cx="246852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500" spc="-1" strike="noStrike">
                <a:solidFill>
                  <a:srgbClr val="ee6055"/>
                </a:solidFill>
                <a:latin typeface="Cambria"/>
                <a:ea typeface="Cambria"/>
              </a:rPr>
              <a:t>Group B: STOP</a:t>
            </a:r>
            <a:endParaRPr b="0" lang="en-US" sz="1500" spc="-1" strike="noStrike">
              <a:solidFill>
                <a:srgbClr val="000000"/>
              </a:solidFill>
              <a:latin typeface="Arial"/>
            </a:endParaRPr>
          </a:p>
        </p:txBody>
      </p:sp>
      <p:sp>
        <p:nvSpPr>
          <p:cNvPr id="150" name="Text 23"/>
          <p:cNvSpPr/>
          <p:nvPr/>
        </p:nvSpPr>
        <p:spPr>
          <a:xfrm>
            <a:off x="6080760" y="3657600"/>
            <a:ext cx="24685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1f2d3d"/>
                </a:solidFill>
                <a:latin typeface="Calibri"/>
                <a:ea typeface="Calibri"/>
              </a:rPr>
              <a:t>Osimertinib alone</a:t>
            </a:r>
            <a:endParaRPr b="0" lang="en-US" sz="1400" spc="-1" strike="noStrike">
              <a:solidFill>
                <a:srgbClr val="000000"/>
              </a:solidFill>
              <a:latin typeface="Arial"/>
            </a:endParaRPr>
          </a:p>
          <a:p>
            <a:pPr algn="ctr" defTabSz="914400">
              <a:lnSpc>
                <a:spcPct val="100000"/>
              </a:lnSpc>
              <a:tabLst>
                <a:tab algn="l" pos="0"/>
              </a:tabLst>
            </a:pPr>
            <a:r>
              <a:rPr b="0" lang="en-US" sz="1200" spc="-1" strike="noStrike">
                <a:solidFill>
                  <a:srgbClr val="1f2d3d"/>
                </a:solidFill>
                <a:latin typeface="Calibri"/>
                <a:ea typeface="Calibri"/>
              </a:rPr>
              <a:t>Daily pill only — no more chemotherapy</a:t>
            </a:r>
            <a:endParaRPr b="0" lang="en-US" sz="1400" spc="-1" strike="noStrike">
              <a:solidFill>
                <a:srgbClr val="000000"/>
              </a:solidFill>
              <a:latin typeface="Arial"/>
            </a:endParaRPr>
          </a:p>
        </p:txBody>
      </p:sp>
      <p:sp>
        <p:nvSpPr>
          <p:cNvPr id="151" name="Text 24"/>
          <p:cNvSpPr/>
          <p:nvPr/>
        </p:nvSpPr>
        <p:spPr>
          <a:xfrm>
            <a:off x="457200" y="3383280"/>
            <a:ext cx="214848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200" spc="-1" strike="noStrike">
                <a:solidFill>
                  <a:srgbClr val="5b6b7b"/>
                </a:solidFill>
                <a:latin typeface="Calibri"/>
                <a:ea typeface="Calibri"/>
              </a:rPr>
              <a:t>Randomised at week 12; stratified by EGFR subtype and brain metastases.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Blood tests and scans over time</a:t>
            </a:r>
            <a:endParaRPr b="0" lang="en-US" sz="3200" spc="-1" strike="noStrike">
              <a:solidFill>
                <a:srgbClr val="000000"/>
              </a:solidFill>
              <a:latin typeface="Arial"/>
            </a:endParaRPr>
          </a:p>
        </p:txBody>
      </p:sp>
      <p:sp>
        <p:nvSpPr>
          <p:cNvPr id="153"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0f8b8d"/>
                </a:solidFill>
                <a:latin typeface="Calibri"/>
                <a:ea typeface="Calibri"/>
              </a:rPr>
              <a:t>ctDNA is checked repeatedly, but the clinical rules are strict</a:t>
            </a:r>
            <a:endParaRPr b="0" lang="en-US" sz="1600" spc="-1" strike="noStrike">
              <a:solidFill>
                <a:srgbClr val="000000"/>
              </a:solidFill>
              <a:latin typeface="Arial"/>
            </a:endParaRPr>
          </a:p>
        </p:txBody>
      </p:sp>
      <p:sp>
        <p:nvSpPr>
          <p:cNvPr id="154"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9</a:t>
            </a:r>
            <a:endParaRPr b="0" lang="en-US" sz="1000" spc="-1" strike="noStrike">
              <a:solidFill>
                <a:srgbClr val="000000"/>
              </a:solidFill>
              <a:latin typeface="Arial"/>
            </a:endParaRPr>
          </a:p>
        </p:txBody>
      </p:sp>
      <p:sp>
        <p:nvSpPr>
          <p:cNvPr id="155" name="Shape 3"/>
          <p:cNvSpPr/>
          <p:nvPr/>
        </p:nvSpPr>
        <p:spPr>
          <a:xfrm>
            <a:off x="1097280" y="2194560"/>
            <a:ext cx="7315200" cy="360"/>
          </a:xfrm>
          <a:prstGeom prst="line">
            <a:avLst/>
          </a:prstGeom>
          <a:ln w="38100">
            <a:solidFill>
              <a:srgbClr val="b8c4c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56" name="Shape 4"/>
          <p:cNvSpPr/>
          <p:nvPr/>
        </p:nvSpPr>
        <p:spPr>
          <a:xfrm>
            <a:off x="1024200" y="2030040"/>
            <a:ext cx="328680" cy="328680"/>
          </a:xfrm>
          <a:prstGeom prst="ellipse">
            <a:avLst/>
          </a:prstGeom>
          <a:solidFill>
            <a:srgbClr val="0b2545"/>
          </a:solidFill>
          <a:ln w="254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Text 5"/>
          <p:cNvSpPr/>
          <p:nvPr/>
        </p:nvSpPr>
        <p:spPr>
          <a:xfrm>
            <a:off x="457200" y="1508760"/>
            <a:ext cx="14626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700" spc="-1" strike="noStrike">
                <a:solidFill>
                  <a:srgbClr val="0b2545"/>
                </a:solidFill>
                <a:latin typeface="Cambria"/>
                <a:ea typeface="Cambria"/>
              </a:rPr>
              <a:t>Week 0</a:t>
            </a:r>
            <a:endParaRPr b="0" lang="en-US" sz="1700" spc="-1" strike="noStrike">
              <a:solidFill>
                <a:srgbClr val="000000"/>
              </a:solidFill>
              <a:latin typeface="Arial"/>
            </a:endParaRPr>
          </a:p>
        </p:txBody>
      </p:sp>
      <p:sp>
        <p:nvSpPr>
          <p:cNvPr id="158" name="Text 6"/>
          <p:cNvSpPr/>
          <p:nvPr/>
        </p:nvSpPr>
        <p:spPr>
          <a:xfrm>
            <a:off x="365760" y="2514600"/>
            <a:ext cx="164556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Baseline ctDNA</a:t>
            </a:r>
            <a:endParaRPr b="0" lang="en-US" sz="1300" spc="-1" strike="noStrike">
              <a:solidFill>
                <a:srgbClr val="000000"/>
              </a:solidFill>
              <a:latin typeface="Arial"/>
            </a:endParaRPr>
          </a:p>
        </p:txBody>
      </p:sp>
      <p:sp>
        <p:nvSpPr>
          <p:cNvPr id="159" name="Shape 7"/>
          <p:cNvSpPr/>
          <p:nvPr/>
        </p:nvSpPr>
        <p:spPr>
          <a:xfrm>
            <a:off x="2853000" y="2030040"/>
            <a:ext cx="328680" cy="328680"/>
          </a:xfrm>
          <a:prstGeom prst="ellipse">
            <a:avLst/>
          </a:prstGeom>
          <a:solidFill>
            <a:srgbClr val="5b6b7b"/>
          </a:solidFill>
          <a:ln w="254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Text 8"/>
          <p:cNvSpPr/>
          <p:nvPr/>
        </p:nvSpPr>
        <p:spPr>
          <a:xfrm>
            <a:off x="2286000" y="1508760"/>
            <a:ext cx="14626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700" spc="-1" strike="noStrike">
                <a:solidFill>
                  <a:srgbClr val="5b6b7b"/>
                </a:solidFill>
                <a:latin typeface="Cambria"/>
                <a:ea typeface="Cambria"/>
              </a:rPr>
              <a:t>Week 3</a:t>
            </a:r>
            <a:endParaRPr b="0" lang="en-US" sz="1700" spc="-1" strike="noStrike">
              <a:solidFill>
                <a:srgbClr val="000000"/>
              </a:solidFill>
              <a:latin typeface="Arial"/>
            </a:endParaRPr>
          </a:p>
        </p:txBody>
      </p:sp>
      <p:sp>
        <p:nvSpPr>
          <p:cNvPr id="161" name="Text 9"/>
          <p:cNvSpPr/>
          <p:nvPr/>
        </p:nvSpPr>
        <p:spPr>
          <a:xfrm>
            <a:off x="2194560" y="2514600"/>
            <a:ext cx="164556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Research-only (hidden)</a:t>
            </a:r>
            <a:endParaRPr b="0" lang="en-US" sz="1300" spc="-1" strike="noStrike">
              <a:solidFill>
                <a:srgbClr val="000000"/>
              </a:solidFill>
              <a:latin typeface="Arial"/>
            </a:endParaRPr>
          </a:p>
        </p:txBody>
      </p:sp>
      <p:sp>
        <p:nvSpPr>
          <p:cNvPr id="162" name="Shape 10"/>
          <p:cNvSpPr/>
          <p:nvPr/>
        </p:nvSpPr>
        <p:spPr>
          <a:xfrm>
            <a:off x="4681800" y="2030040"/>
            <a:ext cx="328680" cy="328680"/>
          </a:xfrm>
          <a:prstGeom prst="ellipse">
            <a:avLst/>
          </a:prstGeom>
          <a:solidFill>
            <a:srgbClr val="0f8b8d"/>
          </a:solidFill>
          <a:ln w="254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3" name="Text 11"/>
          <p:cNvSpPr/>
          <p:nvPr/>
        </p:nvSpPr>
        <p:spPr>
          <a:xfrm>
            <a:off x="4114800" y="1508760"/>
            <a:ext cx="14626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700" spc="-1" strike="noStrike">
                <a:solidFill>
                  <a:srgbClr val="0f8b8d"/>
                </a:solidFill>
                <a:latin typeface="Cambria"/>
                <a:ea typeface="Cambria"/>
              </a:rPr>
              <a:t>Week 6</a:t>
            </a:r>
            <a:endParaRPr b="0" lang="en-US" sz="1700" spc="-1" strike="noStrike">
              <a:solidFill>
                <a:srgbClr val="000000"/>
              </a:solidFill>
              <a:latin typeface="Arial"/>
            </a:endParaRPr>
          </a:p>
        </p:txBody>
      </p:sp>
      <p:sp>
        <p:nvSpPr>
          <p:cNvPr id="164" name="Text 12"/>
          <p:cNvSpPr/>
          <p:nvPr/>
        </p:nvSpPr>
        <p:spPr>
          <a:xfrm>
            <a:off x="4023360" y="2514600"/>
            <a:ext cx="164556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ctDNA must be clear</a:t>
            </a:r>
            <a:endParaRPr b="0" lang="en-US" sz="1300" spc="-1" strike="noStrike">
              <a:solidFill>
                <a:srgbClr val="000000"/>
              </a:solidFill>
              <a:latin typeface="Arial"/>
            </a:endParaRPr>
          </a:p>
        </p:txBody>
      </p:sp>
      <p:sp>
        <p:nvSpPr>
          <p:cNvPr id="165" name="Shape 13"/>
          <p:cNvSpPr/>
          <p:nvPr/>
        </p:nvSpPr>
        <p:spPr>
          <a:xfrm>
            <a:off x="6510600" y="2030040"/>
            <a:ext cx="328680" cy="328680"/>
          </a:xfrm>
          <a:prstGeom prst="ellipse">
            <a:avLst/>
          </a:prstGeom>
          <a:solidFill>
            <a:srgbClr val="ee6055"/>
          </a:solidFill>
          <a:ln w="254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6" name="Text 14"/>
          <p:cNvSpPr/>
          <p:nvPr/>
        </p:nvSpPr>
        <p:spPr>
          <a:xfrm>
            <a:off x="5943600" y="1508760"/>
            <a:ext cx="14626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700" spc="-1" strike="noStrike">
                <a:solidFill>
                  <a:srgbClr val="ee6055"/>
                </a:solidFill>
                <a:latin typeface="Cambria"/>
                <a:ea typeface="Cambria"/>
              </a:rPr>
              <a:t>Week 12</a:t>
            </a:r>
            <a:endParaRPr b="0" lang="en-US" sz="1700" spc="-1" strike="noStrike">
              <a:solidFill>
                <a:srgbClr val="000000"/>
              </a:solidFill>
              <a:latin typeface="Arial"/>
            </a:endParaRPr>
          </a:p>
        </p:txBody>
      </p:sp>
      <p:sp>
        <p:nvSpPr>
          <p:cNvPr id="167" name="Text 15"/>
          <p:cNvSpPr/>
          <p:nvPr/>
        </p:nvSpPr>
        <p:spPr>
          <a:xfrm>
            <a:off x="5852160" y="2514600"/>
            <a:ext cx="1645560" cy="7311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1f2d3d"/>
                </a:solidFill>
                <a:latin typeface="Calibri"/>
                <a:ea typeface="Calibri"/>
              </a:rPr>
              <a:t>Clear again + CT → randomise</a:t>
            </a:r>
            <a:endParaRPr b="0" lang="en-US" sz="1300" spc="-1" strike="noStrike">
              <a:solidFill>
                <a:srgbClr val="000000"/>
              </a:solidFill>
              <a:latin typeface="Arial"/>
            </a:endParaRPr>
          </a:p>
        </p:txBody>
      </p:sp>
      <p:sp>
        <p:nvSpPr>
          <p:cNvPr id="168" name="Shape 16"/>
          <p:cNvSpPr/>
          <p:nvPr/>
        </p:nvSpPr>
        <p:spPr>
          <a:xfrm>
            <a:off x="8247960" y="2030040"/>
            <a:ext cx="328680" cy="328680"/>
          </a:xfrm>
          <a:prstGeom prst="ellipse">
            <a:avLst/>
          </a:prstGeom>
          <a:solidFill>
            <a:srgbClr val="f2b134"/>
          </a:solidFill>
          <a:ln w="254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9" name="Text 17"/>
          <p:cNvSpPr/>
          <p:nvPr/>
        </p:nvSpPr>
        <p:spPr>
          <a:xfrm>
            <a:off x="7818120" y="1508760"/>
            <a:ext cx="11883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700" spc="-1" strike="noStrike">
                <a:solidFill>
                  <a:srgbClr val="f2b134"/>
                </a:solidFill>
                <a:latin typeface="Cambria"/>
                <a:ea typeface="Cambria"/>
              </a:rPr>
              <a:t>After</a:t>
            </a:r>
            <a:endParaRPr b="0" lang="en-US" sz="1700" spc="-1" strike="noStrike">
              <a:solidFill>
                <a:srgbClr val="000000"/>
              </a:solidFill>
              <a:latin typeface="Arial"/>
            </a:endParaRPr>
          </a:p>
        </p:txBody>
      </p:sp>
      <p:sp>
        <p:nvSpPr>
          <p:cNvPr id="170" name="Shape 18"/>
          <p:cNvSpPr/>
          <p:nvPr/>
        </p:nvSpPr>
        <p:spPr>
          <a:xfrm>
            <a:off x="457200" y="3383280"/>
            <a:ext cx="4023000" cy="1188360"/>
          </a:xfrm>
          <a:prstGeom prst="roundRect">
            <a:avLst>
              <a:gd name="adj" fmla="val 9231"/>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Text 19"/>
          <p:cNvSpPr/>
          <p:nvPr/>
        </p:nvSpPr>
        <p:spPr>
          <a:xfrm>
            <a:off x="640080" y="3456360"/>
            <a:ext cx="3657240" cy="1051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b2545"/>
                </a:solidFill>
                <a:latin typeface="Calibri"/>
                <a:ea typeface="Calibri"/>
              </a:rPr>
              <a:t>After randomisation</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1f2d3d"/>
                </a:solidFill>
                <a:latin typeface="Calibri"/>
                <a:ea typeface="Calibri"/>
              </a:rPr>
              <a:t>Blood every ~6 weeks (monitoring only). CT every 6 weeks to week 48, then every 12 weeks.</a:t>
            </a:r>
            <a:endParaRPr b="0" lang="en-US" sz="1300" spc="-1" strike="noStrike">
              <a:solidFill>
                <a:srgbClr val="000000"/>
              </a:solidFill>
              <a:latin typeface="Arial"/>
            </a:endParaRPr>
          </a:p>
        </p:txBody>
      </p:sp>
      <p:sp>
        <p:nvSpPr>
          <p:cNvPr id="172" name="Shape 20"/>
          <p:cNvSpPr/>
          <p:nvPr/>
        </p:nvSpPr>
        <p:spPr>
          <a:xfrm>
            <a:off x="4663440" y="3383280"/>
            <a:ext cx="4023000" cy="1188360"/>
          </a:xfrm>
          <a:prstGeom prst="roundRect">
            <a:avLst>
              <a:gd name="adj" fmla="val 9231"/>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3" name="Text 21"/>
          <p:cNvSpPr/>
          <p:nvPr/>
        </p:nvSpPr>
        <p:spPr>
          <a:xfrm>
            <a:off x="4846320" y="3456360"/>
            <a:ext cx="3657240" cy="1051200"/>
          </a:xfrm>
          <a:prstGeom prst="rect">
            <a:avLst/>
          </a:prstGeom>
          <a:noFill/>
          <a:ln w="0">
            <a:noFill/>
          </a:ln>
        </p:spPr>
        <p:style>
          <a:lnRef idx="0"/>
          <a:fillRef idx="0"/>
          <a:effectRef idx="0"/>
          <a:fontRef idx="minor"/>
        </p:style>
        <p:txBody>
          <a:bodyPr lIns="0" rIns="0" tIns="0" bIns="0" anchor="t" wrap="square">
            <a:noAutofit/>
          </a:bodyPr>
          <a:p>
            <a:pPr defTabSz="914400">
              <a:lnSpc>
                <a:spcPct val="100000"/>
              </a:lnSpc>
              <a:spcAft>
                <a:spcPts val="300"/>
              </a:spcAft>
              <a:tabLst>
                <a:tab algn="l" pos="0"/>
              </a:tabLst>
            </a:pPr>
            <a:r>
              <a:rPr sz="1100" b="1">
                <a:solidFill>
                  <a:srgbClr val="1A3045"/>
                </a:solidFill>
                <a:latin typeface="Aptos"/>
              </a:rPr>
              <a:t>Important rule</a:t>
            </a:r>
            <a:endParaRPr b="0" lang="en-US" sz="1300" spc="-1" strike="noStrike">
              <a:solidFill>
                <a:srgbClr val="000000"/>
              </a:solidFill>
              <a:latin typeface="Arial"/>
            </a:endParaRPr>
          </a:p>
          <a:p>
            <a:pPr>
              <a:spcAft>
                <a:spcPts val="0"/>
              </a:spcAft>
            </a:pPr>
            <a:r>
              <a:rPr sz="900">
                <a:solidFill>
                  <a:srgbClr val="374550"/>
                </a:solidFill>
                <a:latin typeface="Aptos"/>
              </a:rPr>
              <a:t>Week 3 is research-only. After randomisation, ctDNA is monitored but does not trigger treatment changes in this protocol. Clinical progression and safety are managed through standard care.</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How we measure success</a:t>
            </a:r>
            <a:endParaRPr b="0" lang="en-US" sz="3200" spc="-1" strike="noStrike">
              <a:solidFill>
                <a:srgbClr val="000000"/>
              </a:solidFill>
              <a:latin typeface="Arial"/>
            </a:endParaRPr>
          </a:p>
        </p:txBody>
      </p:sp>
      <p:sp>
        <p:nvSpPr>
          <p:cNvPr id="175"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10</a:t>
            </a:r>
            <a:endParaRPr b="0" lang="en-US" sz="1000" spc="-1" strike="noStrike">
              <a:solidFill>
                <a:srgbClr val="000000"/>
              </a:solidFill>
              <a:latin typeface="Arial"/>
            </a:endParaRPr>
          </a:p>
        </p:txBody>
      </p:sp>
      <p:sp>
        <p:nvSpPr>
          <p:cNvPr id="176" name="Shape 2"/>
          <p:cNvSpPr/>
          <p:nvPr/>
        </p:nvSpPr>
        <p:spPr>
          <a:xfrm>
            <a:off x="457200" y="1188720"/>
            <a:ext cx="3291480" cy="3291480"/>
          </a:xfrm>
          <a:prstGeom prst="roundRect">
            <a:avLst>
              <a:gd name="adj" fmla="val 4167"/>
            </a:avLst>
          </a:prstGeom>
          <a:solidFill>
            <a:srgbClr val="0b2545"/>
          </a:solidFill>
          <a:ln w="12700">
            <a:solidFill>
              <a:srgbClr val="0b25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Shape 3"/>
          <p:cNvSpPr/>
          <p:nvPr/>
        </p:nvSpPr>
        <p:spPr>
          <a:xfrm>
            <a:off x="731520" y="1417320"/>
            <a:ext cx="822600" cy="8226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78" name="Image 0" descr="preencoded.png"/>
          <p:cNvPicPr/>
          <p:nvPr/>
        </p:nvPicPr>
        <p:blipFill>
          <a:blip r:embed="rId1"/>
          <a:stretch/>
        </p:blipFill>
        <p:spPr>
          <a:xfrm>
            <a:off x="937440" y="1623240"/>
            <a:ext cx="411120" cy="411120"/>
          </a:xfrm>
          <a:prstGeom prst="rect">
            <a:avLst/>
          </a:prstGeom>
          <a:ln w="0">
            <a:noFill/>
          </a:ln>
        </p:spPr>
      </p:pic>
      <p:sp>
        <p:nvSpPr>
          <p:cNvPr id="179" name="Text 4"/>
          <p:cNvSpPr/>
          <p:nvPr/>
        </p:nvSpPr>
        <p:spPr>
          <a:xfrm>
            <a:off x="731520" y="2423160"/>
            <a:ext cx="2742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299" strike="noStrike">
                <a:solidFill>
                  <a:srgbClr val="f2b134"/>
                </a:solidFill>
                <a:latin typeface="Calibri"/>
                <a:ea typeface="Calibri"/>
              </a:rPr>
              <a:t>PRIMARY</a:t>
            </a:r>
            <a:endParaRPr b="0" lang="en-US" sz="1200" spc="-1" strike="noStrike">
              <a:solidFill>
                <a:srgbClr val="000000"/>
              </a:solidFill>
              <a:latin typeface="Arial"/>
            </a:endParaRPr>
          </a:p>
        </p:txBody>
      </p:sp>
      <p:sp>
        <p:nvSpPr>
          <p:cNvPr id="180" name="Text 5"/>
          <p:cNvSpPr/>
          <p:nvPr/>
        </p:nvSpPr>
        <p:spPr>
          <a:xfrm>
            <a:off x="731520" y="2697480"/>
            <a:ext cx="274284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100" spc="-1" strike="noStrike">
                <a:solidFill>
                  <a:srgbClr val="ffffff"/>
                </a:solidFill>
                <a:latin typeface="Cambria"/>
                <a:ea typeface="Cambria"/>
              </a:rPr>
              <a:t>Progression-free survival</a:t>
            </a:r>
            <a:endParaRPr b="0" lang="en-US" sz="2100" spc="-1" strike="noStrike">
              <a:solidFill>
                <a:srgbClr val="000000"/>
              </a:solidFill>
              <a:latin typeface="Arial"/>
            </a:endParaRPr>
          </a:p>
        </p:txBody>
      </p:sp>
      <p:sp>
        <p:nvSpPr>
          <p:cNvPr id="181" name="Text 6"/>
          <p:cNvSpPr/>
          <p:nvPr/>
        </p:nvSpPr>
        <p:spPr>
          <a:xfrm>
            <a:off x="731520" y="3474720"/>
            <a:ext cx="274284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300" b="0">
                <a:solidFill>
                  <a:srgbClr val="DCE8F2"/>
                </a:solidFill>
                <a:latin typeface="Calibri"/>
              </a:rPr>
              <a:t>Time from randomisation to radiological progression or death (RECIST 1.1; blinded independent central review).</a:t>
            </a:r>
            <a:endParaRPr b="0" lang="en-US" sz="1300" spc="-1" strike="noStrike">
              <a:solidFill>
                <a:srgbClr val="000000"/>
              </a:solidFill>
              <a:latin typeface="Arial"/>
            </a:endParaRPr>
          </a:p>
        </p:txBody>
      </p:sp>
      <p:sp>
        <p:nvSpPr>
          <p:cNvPr id="182" name="Text 7"/>
          <p:cNvSpPr/>
          <p:nvPr/>
        </p:nvSpPr>
        <p:spPr>
          <a:xfrm>
            <a:off x="4114800" y="1188720"/>
            <a:ext cx="27428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299" strike="noStrike">
                <a:solidFill>
                  <a:srgbClr val="0f8b8d"/>
                </a:solidFill>
                <a:latin typeface="Calibri"/>
                <a:ea typeface="Calibri"/>
              </a:rPr>
              <a:t>SECONDARY</a:t>
            </a:r>
            <a:endParaRPr b="0" lang="en-US" sz="1200" spc="-1" strike="noStrike">
              <a:solidFill>
                <a:srgbClr val="000000"/>
              </a:solidFill>
              <a:latin typeface="Arial"/>
            </a:endParaRPr>
          </a:p>
        </p:txBody>
      </p:sp>
      <p:sp>
        <p:nvSpPr>
          <p:cNvPr id="183" name="Shape 8"/>
          <p:cNvSpPr/>
          <p:nvPr/>
        </p:nvSpPr>
        <p:spPr>
          <a:xfrm>
            <a:off x="4114800" y="1508760"/>
            <a:ext cx="4571640" cy="658080"/>
          </a:xfrm>
          <a:prstGeom prst="roundRect">
            <a:avLst>
              <a:gd name="adj" fmla="val 16667"/>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4" name="Shape 9"/>
          <p:cNvSpPr/>
          <p:nvPr/>
        </p:nvSpPr>
        <p:spPr>
          <a:xfrm>
            <a:off x="4224600" y="1600200"/>
            <a:ext cx="475200" cy="4752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85" name="Image 1" descr="preencoded.png"/>
          <p:cNvPicPr/>
          <p:nvPr/>
        </p:nvPicPr>
        <p:blipFill>
          <a:blip r:embed="rId2"/>
          <a:stretch/>
        </p:blipFill>
        <p:spPr>
          <a:xfrm>
            <a:off x="4343400" y="1719000"/>
            <a:ext cx="237240" cy="237240"/>
          </a:xfrm>
          <a:prstGeom prst="rect">
            <a:avLst/>
          </a:prstGeom>
          <a:ln w="0">
            <a:noFill/>
          </a:ln>
        </p:spPr>
      </p:pic>
      <p:sp>
        <p:nvSpPr>
          <p:cNvPr id="186" name="Text 10"/>
          <p:cNvSpPr/>
          <p:nvPr/>
        </p:nvSpPr>
        <p:spPr>
          <a:xfrm>
            <a:off x="4846320" y="156348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0b2545"/>
                </a:solidFill>
                <a:latin typeface="Calibri"/>
                <a:ea typeface="Calibri"/>
              </a:rPr>
              <a:t>Overall survival</a:t>
            </a:r>
            <a:endParaRPr b="0" lang="en-US" sz="1500" spc="-1" strike="noStrike">
              <a:solidFill>
                <a:srgbClr val="000000"/>
              </a:solidFill>
              <a:latin typeface="Arial"/>
            </a:endParaRPr>
          </a:p>
        </p:txBody>
      </p:sp>
      <p:sp>
        <p:nvSpPr>
          <p:cNvPr id="187" name="Text 11"/>
          <p:cNvSpPr/>
          <p:nvPr/>
        </p:nvSpPr>
        <p:spPr>
          <a:xfrm>
            <a:off x="4846320" y="183780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5b6b7b"/>
                </a:solidFill>
                <a:latin typeface="Calibri"/>
                <a:ea typeface="Calibri"/>
              </a:rPr>
              <a:t>How long patients live</a:t>
            </a:r>
            <a:endParaRPr b="0" lang="en-US" sz="1250" spc="-1" strike="noStrike">
              <a:solidFill>
                <a:srgbClr val="000000"/>
              </a:solidFill>
              <a:latin typeface="Arial"/>
            </a:endParaRPr>
          </a:p>
        </p:txBody>
      </p:sp>
      <p:sp>
        <p:nvSpPr>
          <p:cNvPr id="188" name="Shape 12"/>
          <p:cNvSpPr/>
          <p:nvPr/>
        </p:nvSpPr>
        <p:spPr>
          <a:xfrm>
            <a:off x="4114800" y="2277000"/>
            <a:ext cx="4571640" cy="658080"/>
          </a:xfrm>
          <a:prstGeom prst="roundRect">
            <a:avLst>
              <a:gd name="adj" fmla="val 16667"/>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9" name="Shape 13"/>
          <p:cNvSpPr/>
          <p:nvPr/>
        </p:nvSpPr>
        <p:spPr>
          <a:xfrm>
            <a:off x="4224600" y="2368440"/>
            <a:ext cx="475200" cy="4752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90" name="Image 2" descr="preencoded.png"/>
          <p:cNvPicPr/>
          <p:nvPr/>
        </p:nvPicPr>
        <p:blipFill>
          <a:blip r:embed="rId3"/>
          <a:stretch/>
        </p:blipFill>
        <p:spPr>
          <a:xfrm>
            <a:off x="4343400" y="2487240"/>
            <a:ext cx="237240" cy="237240"/>
          </a:xfrm>
          <a:prstGeom prst="rect">
            <a:avLst/>
          </a:prstGeom>
          <a:ln w="0">
            <a:noFill/>
          </a:ln>
        </p:spPr>
      </p:pic>
      <p:sp>
        <p:nvSpPr>
          <p:cNvPr id="191" name="Text 14"/>
          <p:cNvSpPr/>
          <p:nvPr/>
        </p:nvSpPr>
        <p:spPr>
          <a:xfrm>
            <a:off x="4846320" y="233172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0b2545"/>
                </a:solidFill>
                <a:latin typeface="Calibri"/>
                <a:ea typeface="Calibri"/>
              </a:rPr>
              <a:t>Safety</a:t>
            </a:r>
            <a:endParaRPr b="0" lang="en-US" sz="1500" spc="-1" strike="noStrike">
              <a:solidFill>
                <a:srgbClr val="000000"/>
              </a:solidFill>
              <a:latin typeface="Arial"/>
            </a:endParaRPr>
          </a:p>
        </p:txBody>
      </p:sp>
      <p:sp>
        <p:nvSpPr>
          <p:cNvPr id="192" name="Text 15"/>
          <p:cNvSpPr/>
          <p:nvPr/>
        </p:nvSpPr>
        <p:spPr>
          <a:xfrm>
            <a:off x="4846320" y="260604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5b6b7b"/>
                </a:solidFill>
                <a:latin typeface="Calibri"/>
                <a:ea typeface="Calibri"/>
              </a:rPr>
              <a:t>Grade ≥3 adverse events (CTCAE v5.0)</a:t>
            </a:r>
            <a:endParaRPr b="0" lang="en-US" sz="1250" spc="-1" strike="noStrike">
              <a:solidFill>
                <a:srgbClr val="000000"/>
              </a:solidFill>
              <a:latin typeface="Arial"/>
            </a:endParaRPr>
          </a:p>
        </p:txBody>
      </p:sp>
      <p:sp>
        <p:nvSpPr>
          <p:cNvPr id="193" name="Shape 16"/>
          <p:cNvSpPr/>
          <p:nvPr/>
        </p:nvSpPr>
        <p:spPr>
          <a:xfrm>
            <a:off x="4114800" y="3044880"/>
            <a:ext cx="4571640" cy="658080"/>
          </a:xfrm>
          <a:prstGeom prst="roundRect">
            <a:avLst>
              <a:gd name="adj" fmla="val 16667"/>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4" name="Shape 17"/>
          <p:cNvSpPr/>
          <p:nvPr/>
        </p:nvSpPr>
        <p:spPr>
          <a:xfrm>
            <a:off x="4224600" y="3136320"/>
            <a:ext cx="475200" cy="4752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95" name="Image 3" descr="preencoded.png"/>
          <p:cNvPicPr/>
          <p:nvPr/>
        </p:nvPicPr>
        <p:blipFill>
          <a:blip r:embed="rId4"/>
          <a:stretch/>
        </p:blipFill>
        <p:spPr>
          <a:xfrm>
            <a:off x="4343400" y="3255120"/>
            <a:ext cx="237240" cy="237240"/>
          </a:xfrm>
          <a:prstGeom prst="rect">
            <a:avLst/>
          </a:prstGeom>
          <a:ln w="0">
            <a:noFill/>
          </a:ln>
        </p:spPr>
      </p:pic>
      <p:sp>
        <p:nvSpPr>
          <p:cNvPr id="196" name="Text 18"/>
          <p:cNvSpPr/>
          <p:nvPr/>
        </p:nvSpPr>
        <p:spPr>
          <a:xfrm>
            <a:off x="4846320" y="309996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0b2545"/>
                </a:solidFill>
                <a:latin typeface="Calibri"/>
                <a:ea typeface="Calibri"/>
              </a:rPr>
              <a:t>Quality of life</a:t>
            </a:r>
            <a:endParaRPr b="0" lang="en-US" sz="1500" spc="-1" strike="noStrike">
              <a:solidFill>
                <a:srgbClr val="000000"/>
              </a:solidFill>
              <a:latin typeface="Arial"/>
            </a:endParaRPr>
          </a:p>
        </p:txBody>
      </p:sp>
      <p:sp>
        <p:nvSpPr>
          <p:cNvPr id="197" name="Text 19"/>
          <p:cNvSpPr/>
          <p:nvPr/>
        </p:nvSpPr>
        <p:spPr>
          <a:xfrm>
            <a:off x="4846320" y="337428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5b6b7b"/>
                </a:solidFill>
                <a:latin typeface="Calibri"/>
                <a:ea typeface="Calibri"/>
              </a:rPr>
              <a:t>EORTC QLQ-C30 and LC13 questionnaires</a:t>
            </a:r>
            <a:endParaRPr b="0" lang="en-US" sz="1250" spc="-1" strike="noStrike">
              <a:solidFill>
                <a:srgbClr val="000000"/>
              </a:solidFill>
              <a:latin typeface="Arial"/>
            </a:endParaRPr>
          </a:p>
        </p:txBody>
      </p:sp>
      <p:sp>
        <p:nvSpPr>
          <p:cNvPr id="198" name="Shape 20"/>
          <p:cNvSpPr/>
          <p:nvPr/>
        </p:nvSpPr>
        <p:spPr>
          <a:xfrm>
            <a:off x="4114800" y="3813120"/>
            <a:ext cx="4571640" cy="658080"/>
          </a:xfrm>
          <a:prstGeom prst="roundRect">
            <a:avLst>
              <a:gd name="adj" fmla="val 16667"/>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9" name="Shape 21"/>
          <p:cNvSpPr/>
          <p:nvPr/>
        </p:nvSpPr>
        <p:spPr>
          <a:xfrm>
            <a:off x="4224600" y="3904560"/>
            <a:ext cx="475200" cy="47520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00" name="Image 4" descr="preencoded.png"/>
          <p:cNvPicPr/>
          <p:nvPr/>
        </p:nvPicPr>
        <p:blipFill>
          <a:blip r:embed="rId5"/>
          <a:stretch/>
        </p:blipFill>
        <p:spPr>
          <a:xfrm>
            <a:off x="4343400" y="4023360"/>
            <a:ext cx="237240" cy="237240"/>
          </a:xfrm>
          <a:prstGeom prst="rect">
            <a:avLst/>
          </a:prstGeom>
          <a:ln w="0">
            <a:noFill/>
          </a:ln>
        </p:spPr>
      </p:pic>
      <p:sp>
        <p:nvSpPr>
          <p:cNvPr id="201" name="Text 22"/>
          <p:cNvSpPr/>
          <p:nvPr/>
        </p:nvSpPr>
        <p:spPr>
          <a:xfrm>
            <a:off x="4846320" y="386784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0b2545"/>
                </a:solidFill>
                <a:latin typeface="Calibri"/>
                <a:ea typeface="Calibri"/>
              </a:rPr>
              <a:t>ctDNA return</a:t>
            </a:r>
            <a:endParaRPr b="0" lang="en-US" sz="1500" spc="-1" strike="noStrike">
              <a:solidFill>
                <a:srgbClr val="000000"/>
              </a:solidFill>
              <a:latin typeface="Arial"/>
            </a:endParaRPr>
          </a:p>
        </p:txBody>
      </p:sp>
      <p:sp>
        <p:nvSpPr>
          <p:cNvPr id="202" name="Text 23"/>
          <p:cNvSpPr/>
          <p:nvPr/>
        </p:nvSpPr>
        <p:spPr>
          <a:xfrm>
            <a:off x="4846320" y="4142160"/>
            <a:ext cx="374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5b6b7b"/>
                </a:solidFill>
                <a:latin typeface="Calibri"/>
                <a:ea typeface="Calibri"/>
              </a:rPr>
              <a:t>ctDNA reappearance; resistance at progression</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545"/>
        </a:solidFill>
      </p:bgPr>
    </p:bg>
    <p:spTree>
      <p:nvGrpSpPr>
        <p:cNvPr id="1" name=""/>
        <p:cNvGrpSpPr/>
        <p:nvPr/>
      </p:nvGrpSpPr>
      <p:grpSpPr>
        <a:xfrm>
          <a:off x="0" y="0"/>
          <a:ext cx="0" cy="0"/>
          <a:chOff x="0" y="0"/>
          <a:chExt cx="0" cy="0"/>
        </a:xfrm>
      </p:grpSpPr>
      <p:sp>
        <p:nvSpPr>
          <p:cNvPr id="203"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mbria"/>
                <a:ea typeface="Cambria"/>
              </a:rPr>
              <a:t>Aim 3: the AI part, in simple terms</a:t>
            </a:r>
            <a:endParaRPr b="0" lang="en-US" sz="3200" spc="-1" strike="noStrike">
              <a:solidFill>
                <a:srgbClr val="ffffff"/>
              </a:solidFill>
              <a:latin typeface="Arial"/>
            </a:endParaRPr>
          </a:p>
        </p:txBody>
      </p:sp>
      <p:sp>
        <p:nvSpPr>
          <p:cNvPr id="204" name="Text 1"/>
          <p:cNvSpPr/>
          <p:nvPr/>
        </p:nvSpPr>
        <p:spPr>
          <a:xfrm>
            <a:off x="457200" y="89604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600" spc="-1" strike="noStrike">
                <a:solidFill>
                  <a:srgbClr val="9fd8d6"/>
                </a:solidFill>
                <a:latin typeface="Calibri"/>
                <a:ea typeface="Calibri"/>
              </a:rPr>
              <a:t>Exploratory only. It generates ideas; it does not decide treatment.</a:t>
            </a:r>
            <a:endParaRPr b="0" lang="en-US" sz="1600" spc="-1" strike="noStrike">
              <a:solidFill>
                <a:srgbClr val="ffffff"/>
              </a:solidFill>
              <a:latin typeface="Arial"/>
            </a:endParaRPr>
          </a:p>
        </p:txBody>
      </p:sp>
      <p:sp>
        <p:nvSpPr>
          <p:cNvPr id="205" name="Text 2"/>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9fb3c8"/>
                </a:solidFill>
                <a:latin typeface="Calibri"/>
                <a:ea typeface="Calibri"/>
              </a:rPr>
              <a:t>11</a:t>
            </a:r>
            <a:endParaRPr b="0" lang="en-US" sz="1000" spc="-1" strike="noStrike">
              <a:solidFill>
                <a:srgbClr val="ffffff"/>
              </a:solidFill>
              <a:latin typeface="Arial"/>
            </a:endParaRPr>
          </a:p>
        </p:txBody>
      </p:sp>
      <p:sp>
        <p:nvSpPr>
          <p:cNvPr id="206" name="Shape 3"/>
          <p:cNvSpPr/>
          <p:nvPr/>
        </p:nvSpPr>
        <p:spPr>
          <a:xfrm>
            <a:off x="457200" y="1463040"/>
            <a:ext cx="2651400" cy="2239920"/>
          </a:xfrm>
          <a:prstGeom prst="roundRect">
            <a:avLst>
              <a:gd name="adj" fmla="val 4898"/>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7" name="Shape 4"/>
          <p:cNvSpPr/>
          <p:nvPr/>
        </p:nvSpPr>
        <p:spPr>
          <a:xfrm>
            <a:off x="640080" y="1627560"/>
            <a:ext cx="456840" cy="4568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 5"/>
          <p:cNvSpPr/>
          <p:nvPr/>
        </p:nvSpPr>
        <p:spPr>
          <a:xfrm>
            <a:off x="640080" y="162756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b2545"/>
                </a:solidFill>
                <a:latin typeface="Cambria"/>
                <a:ea typeface="Cambria"/>
              </a:rPr>
              <a:t>1</a:t>
            </a:r>
            <a:endParaRPr b="0" lang="en-US" sz="1800" spc="-1" strike="noStrike">
              <a:solidFill>
                <a:srgbClr val="ffffff"/>
              </a:solidFill>
              <a:latin typeface="Arial"/>
            </a:endParaRPr>
          </a:p>
        </p:txBody>
      </p:sp>
      <p:sp>
        <p:nvSpPr>
          <p:cNvPr id="209" name="Text 6"/>
          <p:cNvSpPr/>
          <p:nvPr/>
        </p:nvSpPr>
        <p:spPr>
          <a:xfrm>
            <a:off x="1234440" y="1627560"/>
            <a:ext cx="1737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mbria"/>
                <a:ea typeface="Cambria"/>
              </a:rPr>
              <a:t>Inputs</a:t>
            </a:r>
            <a:endParaRPr b="0" lang="en-US" sz="1900" spc="-1" strike="noStrike">
              <a:solidFill>
                <a:srgbClr val="ffffff"/>
              </a:solidFill>
              <a:latin typeface="Arial"/>
            </a:endParaRPr>
          </a:p>
        </p:txBody>
      </p:sp>
      <p:sp>
        <p:nvSpPr>
          <p:cNvPr id="210" name="Text 7"/>
          <p:cNvSpPr/>
          <p:nvPr/>
        </p:nvSpPr>
        <p:spPr>
          <a:xfrm>
            <a:off x="640080" y="2240280"/>
            <a:ext cx="2285640" cy="1416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dce8f2"/>
                </a:solidFill>
                <a:latin typeface="Calibri"/>
                <a:ea typeface="Calibri"/>
              </a:rPr>
              <a:t>Only pre-randomisation data: baseline &amp; week-3 ctDNA, % drop, clearance timing, EGFR subtype, brain mets, age, sex, smoking, ECOG</a:t>
            </a:r>
            <a:endParaRPr b="0" lang="en-US" sz="1250" spc="-1" strike="noStrike">
              <a:solidFill>
                <a:srgbClr val="ffffff"/>
              </a:solidFill>
              <a:latin typeface="Arial"/>
            </a:endParaRPr>
          </a:p>
        </p:txBody>
      </p:sp>
      <p:sp>
        <p:nvSpPr>
          <p:cNvPr id="211" name="Shape 8"/>
          <p:cNvSpPr/>
          <p:nvPr/>
        </p:nvSpPr>
        <p:spPr>
          <a:xfrm>
            <a:off x="3291840" y="1463040"/>
            <a:ext cx="2651400" cy="2239920"/>
          </a:xfrm>
          <a:prstGeom prst="roundRect">
            <a:avLst>
              <a:gd name="adj" fmla="val 4898"/>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Shape 9"/>
          <p:cNvSpPr/>
          <p:nvPr/>
        </p:nvSpPr>
        <p:spPr>
          <a:xfrm>
            <a:off x="3474720" y="1627560"/>
            <a:ext cx="456840" cy="45684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Text 10"/>
          <p:cNvSpPr/>
          <p:nvPr/>
        </p:nvSpPr>
        <p:spPr>
          <a:xfrm>
            <a:off x="3474720" y="162756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b2545"/>
                </a:solidFill>
                <a:latin typeface="Cambria"/>
                <a:ea typeface="Cambria"/>
              </a:rPr>
              <a:t>2</a:t>
            </a:r>
            <a:endParaRPr b="0" lang="en-US" sz="1800" spc="-1" strike="noStrike">
              <a:solidFill>
                <a:srgbClr val="ffffff"/>
              </a:solidFill>
              <a:latin typeface="Arial"/>
            </a:endParaRPr>
          </a:p>
        </p:txBody>
      </p:sp>
      <p:sp>
        <p:nvSpPr>
          <p:cNvPr id="214" name="Text 11"/>
          <p:cNvSpPr/>
          <p:nvPr/>
        </p:nvSpPr>
        <p:spPr>
          <a:xfrm>
            <a:off x="4069080" y="1627560"/>
            <a:ext cx="1737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mbria"/>
                <a:ea typeface="Cambria"/>
              </a:rPr>
              <a:t>Model</a:t>
            </a:r>
            <a:endParaRPr b="0" lang="en-US" sz="1900" spc="-1" strike="noStrike">
              <a:solidFill>
                <a:srgbClr val="ffffff"/>
              </a:solidFill>
              <a:latin typeface="Arial"/>
            </a:endParaRPr>
          </a:p>
        </p:txBody>
      </p:sp>
      <p:sp>
        <p:nvSpPr>
          <p:cNvPr id="215" name="Text 12"/>
          <p:cNvSpPr/>
          <p:nvPr/>
        </p:nvSpPr>
        <p:spPr>
          <a:xfrm>
            <a:off x="3474720" y="2240280"/>
            <a:ext cx="2285640" cy="1416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250" b="0">
                <a:solidFill>
                  <a:srgbClr val="DCE8F2"/>
                </a:solidFill>
                <a:latin typeface="Calibri"/>
              </a:rPr>
              <a:t>A causal survival forest estimates how the treatment effect may differ across patients, using 24-month restricted mean survival time (RMST).</a:t>
            </a:r>
            <a:endParaRPr b="0" lang="en-US" sz="1250" spc="-1" strike="noStrike">
              <a:solidFill>
                <a:srgbClr val="ffffff"/>
              </a:solidFill>
              <a:latin typeface="Arial"/>
            </a:endParaRPr>
          </a:p>
        </p:txBody>
      </p:sp>
      <p:sp>
        <p:nvSpPr>
          <p:cNvPr id="216" name="Shape 13"/>
          <p:cNvSpPr/>
          <p:nvPr/>
        </p:nvSpPr>
        <p:spPr>
          <a:xfrm>
            <a:off x="6126480" y="1463040"/>
            <a:ext cx="2651400" cy="2239920"/>
          </a:xfrm>
          <a:prstGeom prst="roundRect">
            <a:avLst>
              <a:gd name="adj" fmla="val 4898"/>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Shape 14"/>
          <p:cNvSpPr/>
          <p:nvPr/>
        </p:nvSpPr>
        <p:spPr>
          <a:xfrm>
            <a:off x="6309360" y="1627560"/>
            <a:ext cx="456840" cy="45684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8" name="Text 15"/>
          <p:cNvSpPr/>
          <p:nvPr/>
        </p:nvSpPr>
        <p:spPr>
          <a:xfrm>
            <a:off x="6309360" y="162756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b2545"/>
                </a:solidFill>
                <a:latin typeface="Cambria"/>
                <a:ea typeface="Cambria"/>
              </a:rPr>
              <a:t>3</a:t>
            </a:r>
            <a:endParaRPr b="0" lang="en-US" sz="1800" spc="-1" strike="noStrike">
              <a:solidFill>
                <a:srgbClr val="ffffff"/>
              </a:solidFill>
              <a:latin typeface="Arial"/>
            </a:endParaRPr>
          </a:p>
        </p:txBody>
      </p:sp>
      <p:sp>
        <p:nvSpPr>
          <p:cNvPr id="219" name="Text 16"/>
          <p:cNvSpPr/>
          <p:nvPr/>
        </p:nvSpPr>
        <p:spPr>
          <a:xfrm>
            <a:off x="6903720" y="1627560"/>
            <a:ext cx="1737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mbria"/>
                <a:ea typeface="Cambria"/>
              </a:rPr>
              <a:t>Explain</a:t>
            </a:r>
            <a:endParaRPr b="0" lang="en-US" sz="1900" spc="-1" strike="noStrike">
              <a:solidFill>
                <a:srgbClr val="ffffff"/>
              </a:solidFill>
              <a:latin typeface="Arial"/>
            </a:endParaRPr>
          </a:p>
        </p:txBody>
      </p:sp>
      <p:sp>
        <p:nvSpPr>
          <p:cNvPr id="220" name="Text 17"/>
          <p:cNvSpPr/>
          <p:nvPr/>
        </p:nvSpPr>
        <p:spPr>
          <a:xfrm>
            <a:off x="6309360" y="2240280"/>
            <a:ext cx="2285640" cy="1416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dce8f2"/>
                </a:solidFill>
                <a:latin typeface="Calibri"/>
                <a:ea typeface="Calibri"/>
              </a:rPr>
              <a:t>SHAP shows which features drive each prediction, so results are interpretable</a:t>
            </a:r>
            <a:endParaRPr b="0" lang="en-US" sz="1250" spc="-1" strike="noStrike">
              <a:solidFill>
                <a:srgbClr val="ffffff"/>
              </a:solidFill>
              <a:latin typeface="Arial"/>
            </a:endParaRPr>
          </a:p>
        </p:txBody>
      </p:sp>
      <p:sp>
        <p:nvSpPr>
          <p:cNvPr id="221" name="Shape 18"/>
          <p:cNvSpPr/>
          <p:nvPr/>
        </p:nvSpPr>
        <p:spPr>
          <a:xfrm>
            <a:off x="457200" y="3840480"/>
            <a:ext cx="8229240" cy="731160"/>
          </a:xfrm>
          <a:prstGeom prst="roundRect">
            <a:avLst>
              <a:gd name="adj" fmla="val 15000"/>
            </a:avLst>
          </a:prstGeom>
          <a:solidFill>
            <a:srgbClr val="12355b"/>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Text 19"/>
          <p:cNvSpPr/>
          <p:nvPr/>
        </p:nvSpPr>
        <p:spPr>
          <a:xfrm>
            <a:off x="640080" y="3840480"/>
            <a:ext cx="78634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2b134"/>
                </a:solidFill>
                <a:latin typeface="Calibri"/>
                <a:ea typeface="Calibri"/>
              </a:rPr>
              <a:t>Guardrails:  </a:t>
            </a:r>
            <a:r>
              <a:rPr b="0" lang="en-US" sz="1300" spc="-1" strike="noStrike">
                <a:solidFill>
                  <a:srgbClr val="ffffff"/>
                </a:solidFill>
                <a:latin typeface="Calibri"/>
                <a:ea typeface="Calibri"/>
              </a:rPr>
              <a:t>no data leakage (pre-randomisation only), nested cross-validation, compared with a standard Cox model, needs external validation.</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Statistics and sample size</a:t>
            </a:r>
            <a:endParaRPr b="0" lang="en-US" sz="3200" spc="-1" strike="noStrike">
              <a:solidFill>
                <a:srgbClr val="000000"/>
              </a:solidFill>
              <a:latin typeface="Arial"/>
            </a:endParaRPr>
          </a:p>
        </p:txBody>
      </p:sp>
      <p:sp>
        <p:nvSpPr>
          <p:cNvPr id="224"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12</a:t>
            </a:r>
            <a:endParaRPr b="0" lang="en-US" sz="1000" spc="-1" strike="noStrike">
              <a:solidFill>
                <a:srgbClr val="000000"/>
              </a:solidFill>
              <a:latin typeface="Arial"/>
            </a:endParaRPr>
          </a:p>
        </p:txBody>
      </p:sp>
      <p:sp>
        <p:nvSpPr>
          <p:cNvPr id="225" name="Shape 2"/>
          <p:cNvSpPr/>
          <p:nvPr/>
        </p:nvSpPr>
        <p:spPr>
          <a:xfrm>
            <a:off x="457200" y="1097280"/>
            <a:ext cx="2651400" cy="1416960"/>
          </a:xfrm>
          <a:prstGeom prst="roundRect">
            <a:avLst>
              <a:gd name="adj" fmla="val 7742"/>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6" name="Text 3"/>
          <p:cNvSpPr/>
          <p:nvPr/>
        </p:nvSpPr>
        <p:spPr>
          <a:xfrm>
            <a:off x="457200" y="1143000"/>
            <a:ext cx="2651400" cy="822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400" spc="-1" strike="noStrike">
                <a:solidFill>
                  <a:srgbClr val="0f8b8d"/>
                </a:solidFill>
                <a:latin typeface="Cambria"/>
                <a:ea typeface="Cambria"/>
              </a:rPr>
              <a:t>160</a:t>
            </a:r>
            <a:endParaRPr b="0" lang="en-US" sz="5400" spc="-1" strike="noStrike">
              <a:solidFill>
                <a:srgbClr val="000000"/>
              </a:solidFill>
              <a:latin typeface="Arial"/>
            </a:endParaRPr>
          </a:p>
        </p:txBody>
      </p:sp>
      <p:sp>
        <p:nvSpPr>
          <p:cNvPr id="227" name="Text 4"/>
          <p:cNvSpPr/>
          <p:nvPr/>
        </p:nvSpPr>
        <p:spPr>
          <a:xfrm>
            <a:off x="457200" y="2011680"/>
            <a:ext cx="265140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5b6b7b"/>
                </a:solidFill>
                <a:latin typeface="Calibri"/>
                <a:ea typeface="Calibri"/>
              </a:rPr>
              <a:t>progression events needed</a:t>
            </a:r>
            <a:endParaRPr b="0" lang="en-US" sz="1400" spc="-1" strike="noStrike">
              <a:solidFill>
                <a:srgbClr val="000000"/>
              </a:solidFill>
              <a:latin typeface="Arial"/>
            </a:endParaRPr>
          </a:p>
        </p:txBody>
      </p:sp>
      <p:sp>
        <p:nvSpPr>
          <p:cNvPr id="228" name="Shape 5"/>
          <p:cNvSpPr/>
          <p:nvPr/>
        </p:nvSpPr>
        <p:spPr>
          <a:xfrm>
            <a:off x="3291840" y="1097280"/>
            <a:ext cx="2651400" cy="1416960"/>
          </a:xfrm>
          <a:prstGeom prst="roundRect">
            <a:avLst>
              <a:gd name="adj" fmla="val 7742"/>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9" name="Text 6"/>
          <p:cNvSpPr/>
          <p:nvPr/>
        </p:nvSpPr>
        <p:spPr>
          <a:xfrm>
            <a:off x="3291840" y="1143000"/>
            <a:ext cx="2651400" cy="822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400" spc="-1" strike="noStrike">
                <a:solidFill>
                  <a:srgbClr val="0b2545"/>
                </a:solidFill>
                <a:latin typeface="Cambria"/>
                <a:ea typeface="Cambria"/>
              </a:rPr>
              <a:t>280</a:t>
            </a:r>
            <a:endParaRPr b="0" lang="en-US" sz="5400" spc="-1" strike="noStrike">
              <a:solidFill>
                <a:srgbClr val="000000"/>
              </a:solidFill>
              <a:latin typeface="Arial"/>
            </a:endParaRPr>
          </a:p>
        </p:txBody>
      </p:sp>
      <p:sp>
        <p:nvSpPr>
          <p:cNvPr id="230" name="Text 7"/>
          <p:cNvSpPr/>
          <p:nvPr/>
        </p:nvSpPr>
        <p:spPr>
          <a:xfrm>
            <a:off x="3291840" y="2011680"/>
            <a:ext cx="265140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5b6b7b"/>
                </a:solidFill>
                <a:latin typeface="Calibri"/>
                <a:ea typeface="Calibri"/>
              </a:rPr>
              <a:t>patients randomised</a:t>
            </a:r>
            <a:endParaRPr b="0" lang="en-US" sz="1400" spc="-1" strike="noStrike">
              <a:solidFill>
                <a:srgbClr val="000000"/>
              </a:solidFill>
              <a:latin typeface="Arial"/>
            </a:endParaRPr>
          </a:p>
        </p:txBody>
      </p:sp>
      <p:sp>
        <p:nvSpPr>
          <p:cNvPr id="231" name="Shape 8"/>
          <p:cNvSpPr/>
          <p:nvPr/>
        </p:nvSpPr>
        <p:spPr>
          <a:xfrm>
            <a:off x="6126480" y="1097280"/>
            <a:ext cx="2651400" cy="1416960"/>
          </a:xfrm>
          <a:prstGeom prst="roundRect">
            <a:avLst>
              <a:gd name="adj" fmla="val 7742"/>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2" name="Text 9"/>
          <p:cNvSpPr/>
          <p:nvPr/>
        </p:nvSpPr>
        <p:spPr>
          <a:xfrm>
            <a:off x="6126480" y="1143000"/>
            <a:ext cx="2651400" cy="822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400" spc="-1" strike="noStrike">
                <a:solidFill>
                  <a:srgbClr val="ee6055"/>
                </a:solidFill>
                <a:latin typeface="Cambria"/>
                <a:ea typeface="Cambria"/>
              </a:rPr>
              <a:t>470</a:t>
            </a:r>
            <a:endParaRPr b="0" lang="en-US" sz="5400" spc="-1" strike="noStrike">
              <a:solidFill>
                <a:srgbClr val="000000"/>
              </a:solidFill>
              <a:latin typeface="Arial"/>
            </a:endParaRPr>
          </a:p>
        </p:txBody>
      </p:sp>
      <p:sp>
        <p:nvSpPr>
          <p:cNvPr id="233" name="Text 10"/>
          <p:cNvSpPr/>
          <p:nvPr/>
        </p:nvSpPr>
        <p:spPr>
          <a:xfrm>
            <a:off x="6126480" y="2011680"/>
            <a:ext cx="265140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400" spc="-1" strike="noStrike">
                <a:solidFill>
                  <a:srgbClr val="5b6b7b"/>
                </a:solidFill>
                <a:latin typeface="Calibri"/>
                <a:ea typeface="Calibri"/>
              </a:rPr>
              <a:t>patients enrolled</a:t>
            </a:r>
            <a:endParaRPr b="0" lang="en-US" sz="1400" spc="-1" strike="noStrike">
              <a:solidFill>
                <a:srgbClr val="000000"/>
              </a:solidFill>
              <a:latin typeface="Arial"/>
            </a:endParaRPr>
          </a:p>
        </p:txBody>
      </p:sp>
      <p:sp>
        <p:nvSpPr>
          <p:cNvPr id="234" name="Text 11"/>
          <p:cNvSpPr/>
          <p:nvPr/>
        </p:nvSpPr>
        <p:spPr>
          <a:xfrm>
            <a:off x="457200" y="27432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b2545"/>
                </a:solidFill>
                <a:latin typeface="Calibri"/>
                <a:ea typeface="Calibri"/>
              </a:rPr>
              <a:t>Assumptions</a:t>
            </a:r>
            <a:endParaRPr b="0" lang="en-US" sz="1300" spc="-1" strike="noStrike">
              <a:solidFill>
                <a:srgbClr val="000000"/>
              </a:solidFill>
              <a:latin typeface="Arial"/>
            </a:endParaRPr>
          </a:p>
        </p:txBody>
      </p:sp>
      <p:sp>
        <p:nvSpPr>
          <p:cNvPr id="235" name="Text 12"/>
          <p:cNvSpPr/>
          <p:nvPr/>
        </p:nvSpPr>
        <p:spPr>
          <a:xfrm>
            <a:off x="2103120" y="2743200"/>
            <a:ext cx="6583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f2d3d"/>
                </a:solidFill>
                <a:latin typeface="Calibri"/>
                <a:ea typeface="Calibri"/>
              </a:rPr>
              <a:t>Median PFS 24 months · one-sided α = 0.10 · power 80% · 10% dropout · ~60% reach sustained ctDNA clearance</a:t>
            </a:r>
            <a:endParaRPr b="0" lang="en-US" sz="1250" spc="-1" strike="noStrike">
              <a:solidFill>
                <a:srgbClr val="000000"/>
              </a:solidFill>
              <a:latin typeface="Arial"/>
            </a:endParaRPr>
          </a:p>
        </p:txBody>
      </p:sp>
      <p:sp>
        <p:nvSpPr>
          <p:cNvPr id="236" name="Text 13"/>
          <p:cNvSpPr/>
          <p:nvPr/>
        </p:nvSpPr>
        <p:spPr>
          <a:xfrm>
            <a:off x="457200" y="32004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b2545"/>
                </a:solidFill>
                <a:latin typeface="Calibri"/>
                <a:ea typeface="Calibri"/>
              </a:rPr>
              <a:t>Main analysis</a:t>
            </a:r>
            <a:endParaRPr b="0" lang="en-US" sz="1300" spc="-1" strike="noStrike">
              <a:solidFill>
                <a:srgbClr val="000000"/>
              </a:solidFill>
              <a:latin typeface="Arial"/>
            </a:endParaRPr>
          </a:p>
        </p:txBody>
      </p:sp>
      <p:sp>
        <p:nvSpPr>
          <p:cNvPr id="237" name="Text 14"/>
          <p:cNvSpPr/>
          <p:nvPr/>
        </p:nvSpPr>
        <p:spPr>
          <a:xfrm>
            <a:off x="2103120" y="3200400"/>
            <a:ext cx="6583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f2d3d"/>
                </a:solidFill>
                <a:latin typeface="Calibri"/>
                <a:ea typeface="Calibri"/>
              </a:rPr>
              <a:t>Kaplan–Meier curves + Cox model (stratified); non-inferior if HR upper limit &lt; 1.40</a:t>
            </a:r>
            <a:endParaRPr b="0" lang="en-US" sz="1250" spc="-1" strike="noStrike">
              <a:solidFill>
                <a:srgbClr val="000000"/>
              </a:solidFill>
              <a:latin typeface="Arial"/>
            </a:endParaRPr>
          </a:p>
        </p:txBody>
      </p:sp>
      <p:sp>
        <p:nvSpPr>
          <p:cNvPr id="238" name="Text 15"/>
          <p:cNvSpPr/>
          <p:nvPr/>
        </p:nvSpPr>
        <p:spPr>
          <a:xfrm>
            <a:off x="457200" y="36576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b2545"/>
                </a:solidFill>
                <a:latin typeface="Calibri"/>
                <a:ea typeface="Calibri"/>
              </a:rPr>
              <a:t>Both populations</a:t>
            </a:r>
            <a:endParaRPr b="0" lang="en-US" sz="1300" spc="-1" strike="noStrike">
              <a:solidFill>
                <a:srgbClr val="000000"/>
              </a:solidFill>
              <a:latin typeface="Arial"/>
            </a:endParaRPr>
          </a:p>
        </p:txBody>
      </p:sp>
      <p:sp>
        <p:nvSpPr>
          <p:cNvPr id="239" name="Text 16"/>
          <p:cNvSpPr/>
          <p:nvPr/>
        </p:nvSpPr>
        <p:spPr>
          <a:xfrm>
            <a:off x="2103120" y="3657600"/>
            <a:ext cx="6583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f2d3d"/>
                </a:solidFill>
                <a:latin typeface="Calibri"/>
                <a:ea typeface="Calibri"/>
              </a:rPr>
              <a:t>Intention-to-treat and per-protocol must agree</a:t>
            </a:r>
            <a:endParaRPr b="0" lang="en-US" sz="1250" spc="-1" strike="noStrike">
              <a:solidFill>
                <a:srgbClr val="000000"/>
              </a:solidFill>
              <a:latin typeface="Arial"/>
            </a:endParaRPr>
          </a:p>
        </p:txBody>
      </p:sp>
      <p:sp>
        <p:nvSpPr>
          <p:cNvPr id="240" name="Text 17"/>
          <p:cNvSpPr/>
          <p:nvPr/>
        </p:nvSpPr>
        <p:spPr>
          <a:xfrm>
            <a:off x="457200" y="41148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b2545"/>
                </a:solidFill>
                <a:latin typeface="Calibri"/>
                <a:ea typeface="Calibri"/>
              </a:rPr>
              <a:t>Safety checks</a:t>
            </a:r>
            <a:endParaRPr b="0" lang="en-US" sz="1300" spc="-1" strike="noStrike">
              <a:solidFill>
                <a:srgbClr val="000000"/>
              </a:solidFill>
              <a:latin typeface="Arial"/>
            </a:endParaRPr>
          </a:p>
        </p:txBody>
      </p:sp>
      <p:sp>
        <p:nvSpPr>
          <p:cNvPr id="241" name="Text 18"/>
          <p:cNvSpPr/>
          <p:nvPr/>
        </p:nvSpPr>
        <p:spPr>
          <a:xfrm>
            <a:off x="2103120" y="4114800"/>
            <a:ext cx="65833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1f2d3d"/>
                </a:solidFill>
                <a:latin typeface="Calibri"/>
                <a:ea typeface="Calibri"/>
              </a:rPr>
              <a:t>Futility look after 80 events; Fisher / chi-square for adverse events; mixed model for quality of life</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2"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Ethics and patient safety</a:t>
            </a:r>
            <a:endParaRPr b="0" lang="en-US" sz="3200" spc="-1" strike="noStrike">
              <a:solidFill>
                <a:srgbClr val="000000"/>
              </a:solidFill>
              <a:latin typeface="Arial"/>
            </a:endParaRPr>
          </a:p>
        </p:txBody>
      </p:sp>
      <p:sp>
        <p:nvSpPr>
          <p:cNvPr id="243"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13</a:t>
            </a:r>
            <a:endParaRPr b="0" lang="en-US" sz="1000" spc="-1" strike="noStrike">
              <a:solidFill>
                <a:srgbClr val="000000"/>
              </a:solidFill>
              <a:latin typeface="Arial"/>
            </a:endParaRPr>
          </a:p>
        </p:txBody>
      </p:sp>
      <p:sp>
        <p:nvSpPr>
          <p:cNvPr id="244" name="Shape 2"/>
          <p:cNvSpPr/>
          <p:nvPr/>
        </p:nvSpPr>
        <p:spPr>
          <a:xfrm>
            <a:off x="457200" y="1188720"/>
            <a:ext cx="4023000" cy="1508400"/>
          </a:xfrm>
          <a:prstGeom prst="roundRect">
            <a:avLst>
              <a:gd name="adj" fmla="val 7273"/>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5" name="Shape 3"/>
          <p:cNvSpPr/>
          <p:nvPr/>
        </p:nvSpPr>
        <p:spPr>
          <a:xfrm>
            <a:off x="640080" y="1371600"/>
            <a:ext cx="731160" cy="73116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46" name="Image 0" descr="preencoded.png"/>
          <p:cNvPicPr/>
          <p:nvPr/>
        </p:nvPicPr>
        <p:blipFill>
          <a:blip r:embed="rId1"/>
          <a:stretch/>
        </p:blipFill>
        <p:spPr>
          <a:xfrm>
            <a:off x="822960" y="1554480"/>
            <a:ext cx="365400" cy="365400"/>
          </a:xfrm>
          <a:prstGeom prst="rect">
            <a:avLst/>
          </a:prstGeom>
          <a:ln w="0">
            <a:noFill/>
          </a:ln>
        </p:spPr>
      </p:pic>
      <p:sp>
        <p:nvSpPr>
          <p:cNvPr id="247" name="Text 4"/>
          <p:cNvSpPr/>
          <p:nvPr/>
        </p:nvSpPr>
        <p:spPr>
          <a:xfrm>
            <a:off x="1554480" y="135324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700" b="1">
                <a:solidFill>
                  <a:srgbClr val="0B2545"/>
                </a:solidFill>
                <a:latin typeface="Cambria"/>
              </a:rPr>
              <a:t>Blood sampling</a:t>
            </a:r>
            <a:endParaRPr b="0" lang="en-US" sz="1700" spc="-1" strike="noStrike">
              <a:solidFill>
                <a:srgbClr val="000000"/>
              </a:solidFill>
              <a:latin typeface="Arial"/>
            </a:endParaRPr>
          </a:p>
        </p:txBody>
      </p:sp>
      <p:sp>
        <p:nvSpPr>
          <p:cNvPr id="248" name="Text 5"/>
          <p:cNvSpPr/>
          <p:nvPr/>
        </p:nvSpPr>
        <p:spPr>
          <a:xfrm>
            <a:off x="1554480" y="173736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250" b="0">
                <a:solidFill>
                  <a:srgbClr val="1F2D3D"/>
                </a:solidFill>
                <a:latin typeface="Calibri"/>
              </a:rPr>
              <a:t>About 20 mL per collection by standard venepuncture at planned visits; no study-mandated repeat biopsies.</a:t>
            </a:r>
            <a:endParaRPr b="0" lang="en-US" sz="1250" spc="-1" strike="noStrike">
              <a:solidFill>
                <a:srgbClr val="000000"/>
              </a:solidFill>
              <a:latin typeface="Arial"/>
            </a:endParaRPr>
          </a:p>
        </p:txBody>
      </p:sp>
      <p:sp>
        <p:nvSpPr>
          <p:cNvPr id="249" name="Shape 6"/>
          <p:cNvSpPr/>
          <p:nvPr/>
        </p:nvSpPr>
        <p:spPr>
          <a:xfrm>
            <a:off x="4663440" y="1188720"/>
            <a:ext cx="4023000" cy="1508400"/>
          </a:xfrm>
          <a:prstGeom prst="roundRect">
            <a:avLst>
              <a:gd name="adj" fmla="val 7273"/>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0" name="Shape 7"/>
          <p:cNvSpPr/>
          <p:nvPr/>
        </p:nvSpPr>
        <p:spPr>
          <a:xfrm>
            <a:off x="4846320" y="1371600"/>
            <a:ext cx="731160" cy="73116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51" name="Image 1" descr="preencoded.png"/>
          <p:cNvPicPr/>
          <p:nvPr/>
        </p:nvPicPr>
        <p:blipFill>
          <a:blip r:embed="rId2"/>
          <a:stretch/>
        </p:blipFill>
        <p:spPr>
          <a:xfrm>
            <a:off x="5029200" y="1554480"/>
            <a:ext cx="365400" cy="365400"/>
          </a:xfrm>
          <a:prstGeom prst="rect">
            <a:avLst/>
          </a:prstGeom>
          <a:ln w="0">
            <a:noFill/>
          </a:ln>
        </p:spPr>
      </p:pic>
      <p:sp>
        <p:nvSpPr>
          <p:cNvPr id="252" name="Text 8"/>
          <p:cNvSpPr/>
          <p:nvPr/>
        </p:nvSpPr>
        <p:spPr>
          <a:xfrm>
            <a:off x="5760720" y="135324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0b2545"/>
                </a:solidFill>
                <a:latin typeface="Cambria"/>
                <a:ea typeface="Cambria"/>
              </a:rPr>
              <a:t>Privacy &amp; consent</a:t>
            </a:r>
            <a:endParaRPr b="0" lang="en-US" sz="1700" spc="-1" strike="noStrike">
              <a:solidFill>
                <a:srgbClr val="000000"/>
              </a:solidFill>
              <a:latin typeface="Arial"/>
            </a:endParaRPr>
          </a:p>
        </p:txBody>
      </p:sp>
      <p:sp>
        <p:nvSpPr>
          <p:cNvPr id="253" name="Text 9"/>
          <p:cNvSpPr/>
          <p:nvPr/>
        </p:nvSpPr>
        <p:spPr>
          <a:xfrm>
            <a:off x="5760720" y="173736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250" b="0">
                <a:solidFill>
                  <a:srgbClr val="1F2D3D"/>
                </a:solidFill>
                <a:latin typeface="Calibri"/>
              </a:rPr>
              <a:t>Samples use a study code rather than identifying details. Participants may withdraw and request sample destruction.</a:t>
            </a:r>
            <a:endParaRPr b="0" lang="en-US" sz="1250" spc="-1" strike="noStrike">
              <a:solidFill>
                <a:srgbClr val="000000"/>
              </a:solidFill>
              <a:latin typeface="Arial"/>
            </a:endParaRPr>
          </a:p>
        </p:txBody>
      </p:sp>
      <p:sp>
        <p:nvSpPr>
          <p:cNvPr id="254" name="Shape 10"/>
          <p:cNvSpPr/>
          <p:nvPr/>
        </p:nvSpPr>
        <p:spPr>
          <a:xfrm>
            <a:off x="457200" y="2880360"/>
            <a:ext cx="4023000" cy="1508400"/>
          </a:xfrm>
          <a:prstGeom prst="roundRect">
            <a:avLst>
              <a:gd name="adj" fmla="val 7273"/>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5" name="Shape 11"/>
          <p:cNvSpPr/>
          <p:nvPr/>
        </p:nvSpPr>
        <p:spPr>
          <a:xfrm>
            <a:off x="640080" y="3063240"/>
            <a:ext cx="731160" cy="73116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56" name="Image 2" descr="preencoded.png"/>
          <p:cNvPicPr/>
          <p:nvPr/>
        </p:nvPicPr>
        <p:blipFill>
          <a:blip r:embed="rId3"/>
          <a:stretch/>
        </p:blipFill>
        <p:spPr>
          <a:xfrm>
            <a:off x="822960" y="3246120"/>
            <a:ext cx="365400" cy="365400"/>
          </a:xfrm>
          <a:prstGeom prst="rect">
            <a:avLst/>
          </a:prstGeom>
          <a:ln w="0">
            <a:noFill/>
          </a:ln>
        </p:spPr>
      </p:pic>
      <p:sp>
        <p:nvSpPr>
          <p:cNvPr id="257" name="Text 12"/>
          <p:cNvSpPr/>
          <p:nvPr/>
        </p:nvSpPr>
        <p:spPr>
          <a:xfrm>
            <a:off x="1554480" y="304488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0b2545"/>
                </a:solidFill>
                <a:latin typeface="Cambria"/>
                <a:ea typeface="Cambria"/>
              </a:rPr>
              <a:t>Ongoing care</a:t>
            </a:r>
            <a:endParaRPr b="0" lang="en-US" sz="1700" spc="-1" strike="noStrike">
              <a:solidFill>
                <a:srgbClr val="000000"/>
              </a:solidFill>
              <a:latin typeface="Arial"/>
            </a:endParaRPr>
          </a:p>
        </p:txBody>
      </p:sp>
      <p:sp>
        <p:nvSpPr>
          <p:cNvPr id="258" name="Text 13"/>
          <p:cNvSpPr/>
          <p:nvPr/>
        </p:nvSpPr>
        <p:spPr>
          <a:xfrm>
            <a:off x="1554480" y="342900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f2d3d"/>
                </a:solidFill>
                <a:latin typeface="Calibri"/>
                <a:ea typeface="Calibri"/>
              </a:rPr>
              <a:t>Patients stay with their oncology team; 24-hour contact line; psycho-oncology referral if distressed.</a:t>
            </a:r>
            <a:endParaRPr b="0" lang="en-US" sz="1250" spc="-1" strike="noStrike">
              <a:solidFill>
                <a:srgbClr val="000000"/>
              </a:solidFill>
              <a:latin typeface="Arial"/>
            </a:endParaRPr>
          </a:p>
        </p:txBody>
      </p:sp>
      <p:sp>
        <p:nvSpPr>
          <p:cNvPr id="259" name="Shape 14"/>
          <p:cNvSpPr/>
          <p:nvPr/>
        </p:nvSpPr>
        <p:spPr>
          <a:xfrm>
            <a:off x="4663440" y="2880360"/>
            <a:ext cx="4023000" cy="1508400"/>
          </a:xfrm>
          <a:prstGeom prst="roundRect">
            <a:avLst>
              <a:gd name="adj" fmla="val 7273"/>
            </a:avLst>
          </a:prstGeom>
          <a:solidFill>
            <a:srgbClr val="ffffff"/>
          </a:solidFill>
          <a:ln w="12700">
            <a:solidFill>
              <a:srgbClr val="e1e8ee"/>
            </a:solidFill>
            <a:round/>
          </a:ln>
          <a:effectLst>
            <a:outerShdw algn="bl" blurRad="7632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0" name="Shape 15"/>
          <p:cNvSpPr/>
          <p:nvPr/>
        </p:nvSpPr>
        <p:spPr>
          <a:xfrm>
            <a:off x="4846320" y="3063240"/>
            <a:ext cx="731160" cy="73116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61" name="Image 3" descr="preencoded.png"/>
          <p:cNvPicPr/>
          <p:nvPr/>
        </p:nvPicPr>
        <p:blipFill>
          <a:blip r:embed="rId4"/>
          <a:stretch/>
        </p:blipFill>
        <p:spPr>
          <a:xfrm>
            <a:off x="5029200" y="3246120"/>
            <a:ext cx="365400" cy="365400"/>
          </a:xfrm>
          <a:prstGeom prst="rect">
            <a:avLst/>
          </a:prstGeom>
          <a:ln w="0">
            <a:noFill/>
          </a:ln>
        </p:spPr>
      </p:pic>
      <p:sp>
        <p:nvSpPr>
          <p:cNvPr id="262" name="Text 16"/>
          <p:cNvSpPr/>
          <p:nvPr/>
        </p:nvSpPr>
        <p:spPr>
          <a:xfrm>
            <a:off x="5760720" y="304488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0b2545"/>
                </a:solidFill>
                <a:latin typeface="Cambria"/>
                <a:ea typeface="Cambria"/>
              </a:rPr>
              <a:t>Oversight</a:t>
            </a:r>
            <a:endParaRPr b="0" lang="en-US" sz="1700" spc="-1" strike="noStrike">
              <a:solidFill>
                <a:srgbClr val="000000"/>
              </a:solidFill>
              <a:latin typeface="Arial"/>
            </a:endParaRPr>
          </a:p>
        </p:txBody>
      </p:sp>
      <p:sp>
        <p:nvSpPr>
          <p:cNvPr id="263" name="Text 17"/>
          <p:cNvSpPr/>
          <p:nvPr/>
        </p:nvSpPr>
        <p:spPr>
          <a:xfrm>
            <a:off x="5760720" y="342900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1f2d3d"/>
                </a:solidFill>
                <a:latin typeface="Calibri"/>
                <a:ea typeface="Calibri"/>
              </a:rPr>
              <a:t>Independent data monitoring committee reviews safety regularly. Progressing patients get standard next treatment.</a:t>
            </a:r>
            <a:endParaRPr b="0" lang="en-US" sz="1250" spc="-1" strike="noStrike">
              <a:solidFill>
                <a:srgbClr val="000000"/>
              </a:solidFill>
              <a:latin typeface="Arial"/>
            </a:endParaRPr>
          </a:p>
        </p:txBody>
      </p:sp>
      <p:sp>
        <p:nvSpPr>
          <p:cNvPr id="264" name="Text 18"/>
          <p:cNvSpPr/>
          <p:nvPr/>
        </p:nvSpPr>
        <p:spPr>
          <a:xfrm>
            <a:off x="457200" y="4572000"/>
            <a:ext cx="8229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5b6b7b"/>
                </a:solidFill>
                <a:latin typeface="Calibri"/>
                <a:ea typeface="Calibri"/>
              </a:rPr>
              <a:t>Participants: adults, ECOG 0–1, able to consent. Pregnant or breastfeeding women excluded. No animal work involved.</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0b2545"/>
                </a:solidFill>
                <a:latin typeface="Cambria"/>
                <a:ea typeface="Cambria"/>
              </a:rPr>
              <a:t>Why this matters</a:t>
            </a:r>
            <a:endParaRPr b="0" lang="en-US" sz="3200" spc="-1" strike="noStrike">
              <a:solidFill>
                <a:srgbClr val="000000"/>
              </a:solidFill>
              <a:latin typeface="Arial"/>
            </a:endParaRPr>
          </a:p>
        </p:txBody>
      </p:sp>
      <p:sp>
        <p:nvSpPr>
          <p:cNvPr id="266"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b7b"/>
                </a:solidFill>
                <a:latin typeface="Calibri"/>
                <a:ea typeface="Calibri"/>
              </a:rPr>
              <a:t>14</a:t>
            </a:r>
            <a:endParaRPr b="0" lang="en-US" sz="1000" spc="-1" strike="noStrike">
              <a:solidFill>
                <a:srgbClr val="000000"/>
              </a:solidFill>
              <a:latin typeface="Arial"/>
            </a:endParaRPr>
          </a:p>
        </p:txBody>
      </p:sp>
      <p:sp>
        <p:nvSpPr>
          <p:cNvPr id="267" name="Shape 2"/>
          <p:cNvSpPr/>
          <p:nvPr/>
        </p:nvSpPr>
        <p:spPr>
          <a:xfrm>
            <a:off x="457200" y="1188720"/>
            <a:ext cx="4023000" cy="1508400"/>
          </a:xfrm>
          <a:prstGeom prst="roundRect">
            <a:avLst>
              <a:gd name="adj" fmla="val 9091"/>
            </a:avLst>
          </a:prstGeom>
          <a:solidFill>
            <a:srgbClr val="ddf2f0"/>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8" name="Shape 3"/>
          <p:cNvSpPr/>
          <p:nvPr/>
        </p:nvSpPr>
        <p:spPr>
          <a:xfrm>
            <a:off x="640080" y="1371600"/>
            <a:ext cx="731160" cy="73116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69" name="Image 0" descr="preencoded.png"/>
          <p:cNvPicPr/>
          <p:nvPr/>
        </p:nvPicPr>
        <p:blipFill>
          <a:blip r:embed="rId1"/>
          <a:stretch/>
        </p:blipFill>
        <p:spPr>
          <a:xfrm>
            <a:off x="822960" y="1554480"/>
            <a:ext cx="365400" cy="365400"/>
          </a:xfrm>
          <a:prstGeom prst="rect">
            <a:avLst/>
          </a:prstGeom>
          <a:ln w="0">
            <a:noFill/>
          </a:ln>
        </p:spPr>
      </p:pic>
      <p:sp>
        <p:nvSpPr>
          <p:cNvPr id="270" name="Text 4"/>
          <p:cNvSpPr/>
          <p:nvPr/>
        </p:nvSpPr>
        <p:spPr>
          <a:xfrm>
            <a:off x="1554480" y="137160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0b2545"/>
                </a:solidFill>
                <a:latin typeface="Cambria"/>
                <a:ea typeface="Cambria"/>
              </a:rPr>
              <a:t>Less chemotherapy</a:t>
            </a:r>
            <a:endParaRPr b="0" lang="en-US" sz="1800" spc="-1" strike="noStrike">
              <a:solidFill>
                <a:srgbClr val="000000"/>
              </a:solidFill>
              <a:latin typeface="Arial"/>
            </a:endParaRPr>
          </a:p>
        </p:txBody>
      </p:sp>
      <p:sp>
        <p:nvSpPr>
          <p:cNvPr id="271" name="Text 5"/>
          <p:cNvSpPr/>
          <p:nvPr/>
        </p:nvSpPr>
        <p:spPr>
          <a:xfrm>
            <a:off x="1554480" y="1783080"/>
            <a:ext cx="28342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Cut toxicity and treatment burden for patients who may not need it.</a:t>
            </a:r>
            <a:endParaRPr b="0" lang="en-US" sz="1350" spc="-1" strike="noStrike">
              <a:solidFill>
                <a:srgbClr val="000000"/>
              </a:solidFill>
              <a:latin typeface="Arial"/>
            </a:endParaRPr>
          </a:p>
        </p:txBody>
      </p:sp>
      <p:sp>
        <p:nvSpPr>
          <p:cNvPr id="272" name="Shape 6"/>
          <p:cNvSpPr/>
          <p:nvPr/>
        </p:nvSpPr>
        <p:spPr>
          <a:xfrm>
            <a:off x="4663440" y="1188720"/>
            <a:ext cx="4023000" cy="1508400"/>
          </a:xfrm>
          <a:prstGeom prst="roundRect">
            <a:avLst>
              <a:gd name="adj" fmla="val 9091"/>
            </a:avLst>
          </a:prstGeom>
          <a:solidFill>
            <a:srgbClr val="fdf1d8"/>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3" name="Shape 7"/>
          <p:cNvSpPr/>
          <p:nvPr/>
        </p:nvSpPr>
        <p:spPr>
          <a:xfrm>
            <a:off x="4846320" y="1371600"/>
            <a:ext cx="731160" cy="73116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74" name="Image 1" descr="preencoded.png"/>
          <p:cNvPicPr/>
          <p:nvPr/>
        </p:nvPicPr>
        <p:blipFill>
          <a:blip r:embed="rId2"/>
          <a:stretch/>
        </p:blipFill>
        <p:spPr>
          <a:xfrm>
            <a:off x="5029200" y="1554480"/>
            <a:ext cx="365400" cy="365400"/>
          </a:xfrm>
          <a:prstGeom prst="rect">
            <a:avLst/>
          </a:prstGeom>
          <a:ln w="0">
            <a:noFill/>
          </a:ln>
        </p:spPr>
      </p:pic>
      <p:sp>
        <p:nvSpPr>
          <p:cNvPr id="275" name="Text 8"/>
          <p:cNvSpPr/>
          <p:nvPr/>
        </p:nvSpPr>
        <p:spPr>
          <a:xfrm>
            <a:off x="5760720" y="137160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0b2545"/>
                </a:solidFill>
                <a:latin typeface="Cambria"/>
                <a:ea typeface="Cambria"/>
              </a:rPr>
              <a:t>Precision medicine</a:t>
            </a:r>
            <a:endParaRPr b="0" lang="en-US" sz="1800" spc="-1" strike="noStrike">
              <a:solidFill>
                <a:srgbClr val="000000"/>
              </a:solidFill>
              <a:latin typeface="Arial"/>
            </a:endParaRPr>
          </a:p>
        </p:txBody>
      </p:sp>
      <p:sp>
        <p:nvSpPr>
          <p:cNvPr id="276" name="Text 9"/>
          <p:cNvSpPr/>
          <p:nvPr/>
        </p:nvSpPr>
        <p:spPr>
          <a:xfrm>
            <a:off x="5760720" y="1783080"/>
            <a:ext cx="28342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sz="1350" b="0">
                <a:solidFill>
                  <a:srgbClr val="1F2D3D"/>
                </a:solidFill>
                <a:latin typeface="Calibri"/>
              </a:rPr>
              <a:t>Use a blood biomarker to investigate whether treatment intensity can be personalised.</a:t>
            </a:r>
            <a:endParaRPr b="0" lang="en-US" sz="1350" spc="-1" strike="noStrike">
              <a:solidFill>
                <a:srgbClr val="000000"/>
              </a:solidFill>
              <a:latin typeface="Arial"/>
            </a:endParaRPr>
          </a:p>
        </p:txBody>
      </p:sp>
      <p:sp>
        <p:nvSpPr>
          <p:cNvPr id="277" name="Shape 10"/>
          <p:cNvSpPr/>
          <p:nvPr/>
        </p:nvSpPr>
        <p:spPr>
          <a:xfrm>
            <a:off x="457200" y="2880360"/>
            <a:ext cx="4023000" cy="1508400"/>
          </a:xfrm>
          <a:prstGeom prst="roundRect">
            <a:avLst>
              <a:gd name="adj" fmla="val 9091"/>
            </a:avLst>
          </a:prstGeom>
          <a:solidFill>
            <a:srgbClr val="fdf1d8"/>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8" name="Shape 11"/>
          <p:cNvSpPr/>
          <p:nvPr/>
        </p:nvSpPr>
        <p:spPr>
          <a:xfrm>
            <a:off x="640080" y="3063240"/>
            <a:ext cx="731160" cy="731160"/>
          </a:xfrm>
          <a:prstGeom prst="ellipse">
            <a:avLst/>
          </a:prstGeom>
          <a:solidFill>
            <a:srgbClr val="f2b134"/>
          </a:solidFill>
          <a:ln w="12700">
            <a:solidFill>
              <a:srgbClr val="f2b13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79" name="Image 2" descr="preencoded.png"/>
          <p:cNvPicPr/>
          <p:nvPr/>
        </p:nvPicPr>
        <p:blipFill>
          <a:blip r:embed="rId3"/>
          <a:stretch/>
        </p:blipFill>
        <p:spPr>
          <a:xfrm>
            <a:off x="822960" y="3246120"/>
            <a:ext cx="365400" cy="365400"/>
          </a:xfrm>
          <a:prstGeom prst="rect">
            <a:avLst/>
          </a:prstGeom>
          <a:ln w="0">
            <a:noFill/>
          </a:ln>
        </p:spPr>
      </p:pic>
      <p:sp>
        <p:nvSpPr>
          <p:cNvPr id="280" name="Text 12"/>
          <p:cNvSpPr/>
          <p:nvPr/>
        </p:nvSpPr>
        <p:spPr>
          <a:xfrm>
            <a:off x="1554480" y="306324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0b2545"/>
                </a:solidFill>
                <a:latin typeface="Cambria"/>
                <a:ea typeface="Cambria"/>
              </a:rPr>
              <a:t>Trial model</a:t>
            </a:r>
            <a:endParaRPr b="0" lang="en-US" sz="1800" spc="-1" strike="noStrike">
              <a:solidFill>
                <a:srgbClr val="000000"/>
              </a:solidFill>
              <a:latin typeface="Arial"/>
            </a:endParaRPr>
          </a:p>
        </p:txBody>
      </p:sp>
      <p:sp>
        <p:nvSpPr>
          <p:cNvPr id="281" name="Text 13"/>
          <p:cNvSpPr/>
          <p:nvPr/>
        </p:nvSpPr>
        <p:spPr>
          <a:xfrm>
            <a:off x="1554480" y="3474720"/>
            <a:ext cx="28342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A template for treatment de-escalation in cancers treated "until progression".</a:t>
            </a:r>
            <a:endParaRPr b="0" lang="en-US" sz="1350" spc="-1" strike="noStrike">
              <a:solidFill>
                <a:srgbClr val="000000"/>
              </a:solidFill>
              <a:latin typeface="Arial"/>
            </a:endParaRPr>
          </a:p>
        </p:txBody>
      </p:sp>
      <p:sp>
        <p:nvSpPr>
          <p:cNvPr id="282" name="Shape 14"/>
          <p:cNvSpPr/>
          <p:nvPr/>
        </p:nvSpPr>
        <p:spPr>
          <a:xfrm>
            <a:off x="4663440" y="2880360"/>
            <a:ext cx="4023000" cy="1508400"/>
          </a:xfrm>
          <a:prstGeom prst="roundRect">
            <a:avLst>
              <a:gd name="adj" fmla="val 9091"/>
            </a:avLst>
          </a:prstGeom>
          <a:solidFill>
            <a:srgbClr val="ddf2f0"/>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3" name="Shape 15"/>
          <p:cNvSpPr/>
          <p:nvPr/>
        </p:nvSpPr>
        <p:spPr>
          <a:xfrm>
            <a:off x="4846320" y="3063240"/>
            <a:ext cx="731160" cy="73116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4" name="Image 3" descr="preencoded.png"/>
          <p:cNvPicPr/>
          <p:nvPr/>
        </p:nvPicPr>
        <p:blipFill>
          <a:blip r:embed="rId4"/>
          <a:stretch/>
        </p:blipFill>
        <p:spPr>
          <a:xfrm>
            <a:off x="5029200" y="3246120"/>
            <a:ext cx="365400" cy="365400"/>
          </a:xfrm>
          <a:prstGeom prst="rect">
            <a:avLst/>
          </a:prstGeom>
          <a:ln w="0">
            <a:noFill/>
          </a:ln>
        </p:spPr>
      </p:pic>
      <p:sp>
        <p:nvSpPr>
          <p:cNvPr id="285" name="Text 16"/>
          <p:cNvSpPr/>
          <p:nvPr/>
        </p:nvSpPr>
        <p:spPr>
          <a:xfrm>
            <a:off x="5760720" y="3063240"/>
            <a:ext cx="28342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0b2545"/>
                </a:solidFill>
                <a:latin typeface="Cambria"/>
                <a:ea typeface="Cambria"/>
              </a:rPr>
              <a:t>Future ideas</a:t>
            </a:r>
            <a:endParaRPr b="0" lang="en-US" sz="1800" spc="-1" strike="noStrike">
              <a:solidFill>
                <a:srgbClr val="000000"/>
              </a:solidFill>
              <a:latin typeface="Arial"/>
            </a:endParaRPr>
          </a:p>
        </p:txBody>
      </p:sp>
      <p:sp>
        <p:nvSpPr>
          <p:cNvPr id="286" name="Text 17"/>
          <p:cNvSpPr/>
          <p:nvPr/>
        </p:nvSpPr>
        <p:spPr>
          <a:xfrm>
            <a:off x="5760720" y="3474720"/>
            <a:ext cx="28342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1f2d3d"/>
                </a:solidFill>
                <a:latin typeface="Calibri"/>
                <a:ea typeface="Calibri"/>
              </a:rPr>
              <a:t>AI findings give hypotheses for personalised therapy trials.</a:t>
            </a:r>
            <a:endParaRPr b="0" lang="en-US" sz="1350" spc="-1" strike="noStrike">
              <a:solidFill>
                <a:srgbClr val="000000"/>
              </a:solidFill>
              <a:latin typeface="Arial"/>
            </a:endParaRPr>
          </a:p>
        </p:txBody>
      </p:sp>
      <p:sp>
        <p:nvSpPr>
          <p:cNvPr id="287" name="TextBox 286"/>
          <p:cNvSpPr txBox="1"/>
          <p:nvPr/>
        </p:nvSpPr>
        <p:spPr>
          <a:xfrm>
            <a:off x="502920" y="4526280"/>
            <a:ext cx="7498079" cy="384048"/>
          </a:xfrm>
          <a:prstGeom prst="rect">
            <a:avLst/>
          </a:prstGeom>
          <a:noFill/>
        </p:spPr>
        <p:txBody>
          <a:bodyPr wrap="square">
            <a:spAutoFit/>
          </a:bodyPr>
          <a:lstStyle/>
          <a:p>
            <a:pPr algn="l"/>
            <a:r>
              <a:rPr sz="850" i="1">
                <a:solidFill>
                  <a:srgbClr val="495B69"/>
                </a:solidFill>
                <a:latin typeface="Aptos"/>
              </a:rPr>
              <a:t>Important boundary: ctDNA clearance is not proof of cure. Results apply to eligible patients and need clinical review before changing practice.</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545"/>
        </a:solidFill>
      </p:bgPr>
    </p:bg>
    <p:spTree>
      <p:nvGrpSpPr>
        <p:cNvPr id="1" name=""/>
        <p:cNvGrpSpPr/>
        <p:nvPr/>
      </p:nvGrpSpPr>
      <p:grpSpPr>
        <a:xfrm>
          <a:off x="0" y="0"/>
          <a:ext cx="0" cy="0"/>
          <a:chOff x="0" y="0"/>
          <a:chExt cx="0" cy="0"/>
        </a:xfrm>
      </p:grpSpPr>
      <p:sp>
        <p:nvSpPr>
          <p:cNvPr id="287" name="Text 0"/>
          <p:cNvSpPr/>
          <p:nvPr/>
        </p:nvSpPr>
        <p:spPr>
          <a:xfrm>
            <a:off x="457200" y="27432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mbria"/>
                <a:ea typeface="Cambria"/>
              </a:rPr>
              <a:t>Key takeaways</a:t>
            </a:r>
            <a:endParaRPr b="0" lang="en-US" sz="3200" spc="-1" strike="noStrike">
              <a:solidFill>
                <a:srgbClr val="ffffff"/>
              </a:solidFill>
              <a:latin typeface="Arial"/>
            </a:endParaRPr>
          </a:p>
        </p:txBody>
      </p:sp>
      <p:sp>
        <p:nvSpPr>
          <p:cNvPr id="288" name="Text 1"/>
          <p:cNvSpPr/>
          <p:nvPr/>
        </p:nvSpPr>
        <p:spPr>
          <a:xfrm>
            <a:off x="8229600" y="475488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9fb3c8"/>
                </a:solidFill>
                <a:latin typeface="Calibri"/>
                <a:ea typeface="Calibri"/>
              </a:rPr>
              <a:t>15</a:t>
            </a:r>
            <a:endParaRPr b="0" lang="en-US" sz="1000" spc="-1" strike="noStrike">
              <a:solidFill>
                <a:srgbClr val="ffffff"/>
              </a:solidFill>
              <a:latin typeface="Arial"/>
            </a:endParaRPr>
          </a:p>
        </p:txBody>
      </p:sp>
      <p:sp>
        <p:nvSpPr>
          <p:cNvPr id="289" name="Shape 2"/>
          <p:cNvSpPr/>
          <p:nvPr/>
        </p:nvSpPr>
        <p:spPr>
          <a:xfrm>
            <a:off x="548640" y="1143000"/>
            <a:ext cx="456840" cy="4568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Text 3"/>
          <p:cNvSpPr/>
          <p:nvPr/>
        </p:nvSpPr>
        <p:spPr>
          <a:xfrm>
            <a:off x="548640" y="11430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Cambria"/>
                <a:ea typeface="Cambria"/>
              </a:rPr>
              <a:t>1</a:t>
            </a:r>
            <a:endParaRPr b="0" lang="en-US" sz="1700" spc="-1" strike="noStrike">
              <a:solidFill>
                <a:srgbClr val="ffffff"/>
              </a:solidFill>
              <a:latin typeface="Arial"/>
            </a:endParaRPr>
          </a:p>
        </p:txBody>
      </p:sp>
      <p:sp>
        <p:nvSpPr>
          <p:cNvPr id="291" name="Text 4"/>
          <p:cNvSpPr/>
          <p:nvPr/>
        </p:nvSpPr>
        <p:spPr>
          <a:xfrm>
            <a:off x="1188720" y="1143000"/>
            <a:ext cx="72234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Calibri"/>
                <a:ea typeface="Calibri"/>
              </a:rPr>
              <a:t>Pemetrexed + osimertinib works, but adds a lot of toxicity.</a:t>
            </a:r>
            <a:endParaRPr b="0" lang="en-US" sz="1700" spc="-1" strike="noStrike">
              <a:solidFill>
                <a:srgbClr val="ffffff"/>
              </a:solidFill>
              <a:latin typeface="Arial"/>
            </a:endParaRPr>
          </a:p>
        </p:txBody>
      </p:sp>
      <p:sp>
        <p:nvSpPr>
          <p:cNvPr id="292" name="Shape 5"/>
          <p:cNvSpPr/>
          <p:nvPr/>
        </p:nvSpPr>
        <p:spPr>
          <a:xfrm>
            <a:off x="548640" y="1828800"/>
            <a:ext cx="456840" cy="45684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Text 6"/>
          <p:cNvSpPr/>
          <p:nvPr/>
        </p:nvSpPr>
        <p:spPr>
          <a:xfrm>
            <a:off x="548640" y="182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Cambria"/>
                <a:ea typeface="Cambria"/>
              </a:rPr>
              <a:t>2</a:t>
            </a:r>
            <a:endParaRPr b="0" lang="en-US" sz="1700" spc="-1" strike="noStrike">
              <a:solidFill>
                <a:srgbClr val="ffffff"/>
              </a:solidFill>
              <a:latin typeface="Arial"/>
            </a:endParaRPr>
          </a:p>
        </p:txBody>
      </p:sp>
      <p:sp>
        <p:nvSpPr>
          <p:cNvPr id="294" name="Text 7"/>
          <p:cNvSpPr/>
          <p:nvPr/>
        </p:nvSpPr>
        <p:spPr>
          <a:xfrm>
            <a:off x="1188720" y="1828800"/>
            <a:ext cx="72234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sz="1700" b="0">
                <a:solidFill>
                  <a:srgbClr val="FFFFFF"/>
                </a:solidFill>
                <a:latin typeface="Calibri"/>
              </a:rPr>
              <a:t>Sustained ctDNA clearance may identify patients who can stop pemetrexed—but this must be tested.</a:t>
            </a:r>
            <a:endParaRPr b="0" lang="en-US" sz="1700" spc="-1" strike="noStrike">
              <a:solidFill>
                <a:srgbClr val="ffffff"/>
              </a:solidFill>
              <a:latin typeface="Arial"/>
            </a:endParaRPr>
          </a:p>
        </p:txBody>
      </p:sp>
      <p:sp>
        <p:nvSpPr>
          <p:cNvPr id="295" name="Shape 8"/>
          <p:cNvSpPr/>
          <p:nvPr/>
        </p:nvSpPr>
        <p:spPr>
          <a:xfrm>
            <a:off x="548640" y="2514600"/>
            <a:ext cx="456840" cy="4568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Text 9"/>
          <p:cNvSpPr/>
          <p:nvPr/>
        </p:nvSpPr>
        <p:spPr>
          <a:xfrm>
            <a:off x="548640" y="25146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Cambria"/>
                <a:ea typeface="Cambria"/>
              </a:rPr>
              <a:t>3</a:t>
            </a:r>
            <a:endParaRPr b="0" lang="en-US" sz="1700" spc="-1" strike="noStrike">
              <a:solidFill>
                <a:srgbClr val="ffffff"/>
              </a:solidFill>
              <a:latin typeface="Arial"/>
            </a:endParaRPr>
          </a:p>
        </p:txBody>
      </p:sp>
      <p:sp>
        <p:nvSpPr>
          <p:cNvPr id="297" name="Text 10"/>
          <p:cNvSpPr/>
          <p:nvPr/>
        </p:nvSpPr>
        <p:spPr>
          <a:xfrm>
            <a:off x="1188720" y="2514600"/>
            <a:ext cx="72234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sz="1700" b="0">
                <a:solidFill>
                  <a:srgbClr val="FFFFFF"/>
                </a:solidFill>
                <a:latin typeface="Calibri"/>
              </a:rPr>
              <a:t>The proposal addresses the gap with a randomised comparison in selected patients.</a:t>
            </a:r>
            <a:endParaRPr b="0" lang="en-US" sz="1700" spc="-1" strike="noStrike">
              <a:solidFill>
                <a:srgbClr val="ffffff"/>
              </a:solidFill>
              <a:latin typeface="Arial"/>
            </a:endParaRPr>
          </a:p>
        </p:txBody>
      </p:sp>
      <p:sp>
        <p:nvSpPr>
          <p:cNvPr id="298" name="Shape 11"/>
          <p:cNvSpPr/>
          <p:nvPr/>
        </p:nvSpPr>
        <p:spPr>
          <a:xfrm>
            <a:off x="548640" y="3200400"/>
            <a:ext cx="456840" cy="456840"/>
          </a:xfrm>
          <a:prstGeom prst="ellipse">
            <a:avLst/>
          </a:prstGeom>
          <a:solidFill>
            <a:srgbClr val="ee6055"/>
          </a:solidFill>
          <a:ln w="12700">
            <a:solidFill>
              <a:srgbClr val="ee60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9" name="Text 12"/>
          <p:cNvSpPr/>
          <p:nvPr/>
        </p:nvSpPr>
        <p:spPr>
          <a:xfrm>
            <a:off x="548640" y="32004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Cambria"/>
                <a:ea typeface="Cambria"/>
              </a:rPr>
              <a:t>4</a:t>
            </a:r>
            <a:endParaRPr b="0" lang="en-US" sz="1700" spc="-1" strike="noStrike">
              <a:solidFill>
                <a:srgbClr val="ffffff"/>
              </a:solidFill>
              <a:latin typeface="Arial"/>
            </a:endParaRPr>
          </a:p>
        </p:txBody>
      </p:sp>
      <p:sp>
        <p:nvSpPr>
          <p:cNvPr id="300" name="Text 13"/>
          <p:cNvSpPr/>
          <p:nvPr/>
        </p:nvSpPr>
        <p:spPr>
          <a:xfrm>
            <a:off x="1188720" y="3200400"/>
            <a:ext cx="72234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Calibri"/>
                <a:ea typeface="Calibri"/>
              </a:rPr>
              <a:t>Primary test: is stopping non-inferior for PFS (HR margin 1.40)?</a:t>
            </a:r>
            <a:endParaRPr b="0" lang="en-US" sz="1700" spc="-1" strike="noStrike">
              <a:solidFill>
                <a:srgbClr val="ffffff"/>
              </a:solidFill>
              <a:latin typeface="Arial"/>
            </a:endParaRPr>
          </a:p>
        </p:txBody>
      </p:sp>
      <p:sp>
        <p:nvSpPr>
          <p:cNvPr id="301" name="Shape 14"/>
          <p:cNvSpPr/>
          <p:nvPr/>
        </p:nvSpPr>
        <p:spPr>
          <a:xfrm>
            <a:off x="548640" y="3886200"/>
            <a:ext cx="456840" cy="456840"/>
          </a:xfrm>
          <a:prstGeom prst="ellipse">
            <a:avLst/>
          </a:prstGeom>
          <a:solidFill>
            <a:srgbClr val="0f8b8d"/>
          </a:solidFill>
          <a:ln w="12700">
            <a:solidFill>
              <a:srgbClr val="0f8b8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2" name="Text 15"/>
          <p:cNvSpPr/>
          <p:nvPr/>
        </p:nvSpPr>
        <p:spPr>
          <a:xfrm>
            <a:off x="548640" y="38862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Cambria"/>
                <a:ea typeface="Cambria"/>
              </a:rPr>
              <a:t>5</a:t>
            </a:r>
            <a:endParaRPr b="0" lang="en-US" sz="1700" spc="-1" strike="noStrike">
              <a:solidFill>
                <a:srgbClr val="ffffff"/>
              </a:solidFill>
              <a:latin typeface="Arial"/>
            </a:endParaRPr>
          </a:p>
        </p:txBody>
      </p:sp>
      <p:sp>
        <p:nvSpPr>
          <p:cNvPr id="303" name="Text 16"/>
          <p:cNvSpPr/>
          <p:nvPr/>
        </p:nvSpPr>
        <p:spPr>
          <a:xfrm>
            <a:off x="1188720" y="3886200"/>
            <a:ext cx="72234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Calibri"/>
                <a:ea typeface="Calibri"/>
              </a:rPr>
              <a:t>AI looks for who benefits most, to guide future research.</a:t>
            </a:r>
            <a:endParaRPr b="0" lang="en-US" sz="1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2026-10-10T10:19:00Z</dcterms:created>
  <dc:creator>Aditya Bhattacharjee</dc:creator>
  <dc:description/>
  <dc:language>en-US</dc:language>
  <cp:lastModifiedBy/>
  <dcterms:modified xsi:type="dcterms:W3CDTF">2026-10-10T23:23:39Z</dcterms:modified>
  <cp:revision>2</cp:revision>
  <dc:subject>PptxGenJS Presentation</dc:subject>
  <dc:title>Can Pemetrexed Be Stopped When ctDNA Clears?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